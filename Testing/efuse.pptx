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63" r:id="rId5"/>
    <p:sldId id="264" r:id="rId6"/>
    <p:sldId id="265" r:id="rId7"/>
    <p:sldId id="266" r:id="rId8"/>
    <p:sldId id="262" r:id="rId9"/>
    <p:sldId id="258" r:id="rId10"/>
    <p:sldId id="259" r:id="rId11"/>
    <p:sldId id="2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5A81E-8224-4742-AD54-5799FFF917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AAA6B1-F290-4299-833F-84197A3C3B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226E0D-05EA-4CCA-9579-99FB1F757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805E9-6898-4C59-8CBF-5922A6794E7D}" type="datetimeFigureOut">
              <a:rPr lang="en-US" smtClean="0"/>
              <a:t>9/4/2021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8095B8-96B1-4CE5-92CA-2A99F2A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446D40-95FF-48AA-931E-F57211D14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F8033-EEC1-4780-9821-688239D90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019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7A401-3227-48C1-B00C-55245F584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55696-316B-48E0-8E54-E24D732155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27F1B3-3784-4139-AF91-0A268A1A5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805E9-6898-4C59-8CBF-5922A6794E7D}" type="datetimeFigureOut">
              <a:rPr lang="en-US" smtClean="0"/>
              <a:t>9/4/2021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DDA47D-D9A9-465C-8D4A-FD39E9801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FC315-9D04-44EE-94BB-9901C91A4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F8033-EEC1-4780-9821-688239D90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799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DC02-7FCF-4AAD-BDC5-BB839CC26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56EEA-85DE-48D3-BF8B-12DD27E43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DE1B1-6C33-4BF0-88D8-74C853E45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805E9-6898-4C59-8CBF-5922A6794E7D}" type="datetimeFigureOut">
              <a:rPr lang="en-US" smtClean="0"/>
              <a:t>9/4/2021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4C0F9-352D-4E5B-9526-8A3E7AC2A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17ED0-42DC-482D-BEE4-99DC4246B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F8033-EEC1-4780-9821-688239D90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51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EB28-5C62-4436-ABC7-9589D394F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66FD6-909F-4BB2-9471-1F21E590B3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547BD2-B250-47A9-897D-E596EE01A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357784-A3CC-45BE-BC25-B3C46D00B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805E9-6898-4C59-8CBF-5922A6794E7D}" type="datetimeFigureOut">
              <a:rPr lang="en-US" smtClean="0"/>
              <a:t>9/4/2021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DD95C7-C23F-4EE7-8EC4-E102130CA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5A2C3A-DC53-47FD-83B7-6310445F3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F8033-EEC1-4780-9821-688239D90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082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9864-DA82-4487-AEC3-30FE8DD74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2D74C-E4AC-40E4-AD19-AC49699430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F5A10F-AC5B-451A-BEB8-DF06F64CA8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8BADDE-7E94-42DB-B949-6724CCAC5E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0D226B-C0F9-4036-A645-B0CC91A0D9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974D7F-A545-44A6-9BD1-F00944818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805E9-6898-4C59-8CBF-5922A6794E7D}" type="datetimeFigureOut">
              <a:rPr lang="en-US" smtClean="0"/>
              <a:t>9/4/2021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6B1486-FD0E-40B4-91FA-D6F3DE10C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C3E74D-ED3F-42D9-A1DD-F38027CAC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F8033-EEC1-4780-9821-688239D90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7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ECDDA-2850-40DB-AE74-269BB69B2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1DC556-0655-420B-8AFD-CEF4A3792F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805E9-6898-4C59-8CBF-5922A6794E7D}" type="datetimeFigureOut">
              <a:rPr lang="en-US" smtClean="0"/>
              <a:t>9/4/2021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9E6A5E-ECEE-455B-8460-D2CEC2192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00001A-B131-45CD-9CC9-01B0EEE51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F8033-EEC1-4780-9821-688239D90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74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A519E7-425D-4402-85C8-9BD131D00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805E9-6898-4C59-8CBF-5922A6794E7D}" type="datetimeFigureOut">
              <a:rPr lang="en-US" smtClean="0"/>
              <a:t>9/4/2021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40C264-A6E6-4D6D-A78D-8CF47FF4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12D98-3A63-4285-BD7B-AA021075B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F8033-EEC1-4780-9821-688239D90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849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0EE19-6B78-4DAE-AB9E-6A8B7151D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F54F4-CBE3-4B28-84E1-CA3A56C33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1345F7-F89A-4CA0-8716-15BB919E81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738720-BD8E-45CC-8A57-5FFEF36D0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805E9-6898-4C59-8CBF-5922A6794E7D}" type="datetimeFigureOut">
              <a:rPr lang="en-US" smtClean="0"/>
              <a:t>9/4/2021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6AAF57-9885-459D-8F57-2721DC9F3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76C768-F26A-4B53-ACBD-D1B7E3486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F8033-EEC1-4780-9821-688239D90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848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8F641-E38A-4297-9196-6E7F0B8B1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D1D2F6-449D-4D7D-AB62-C32456900A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B1AF55-3A83-48CE-9AB5-42B6171740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33C159-DDA7-4DE8-BC3F-1E066CBAD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805E9-6898-4C59-8CBF-5922A6794E7D}" type="datetimeFigureOut">
              <a:rPr lang="en-US" smtClean="0"/>
              <a:t>9/4/2021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DBAE2A-1B32-41C9-ADD4-765908506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4713D6-157E-4F07-86E5-D2B7E4090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F8033-EEC1-4780-9821-688239D90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854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4DF01-A29D-4B3A-B487-B2FAC38F47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F6223E-D14F-48FF-8CF7-12BD760FE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47C5F-9BC5-49AD-A569-6305C0127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805E9-6898-4C59-8CBF-5922A6794E7D}" type="datetimeFigureOut">
              <a:rPr lang="en-US" smtClean="0"/>
              <a:t>9/4/2021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1B5B0-174A-4A9A-8517-DD569EB67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ECAD6C-2A5F-4840-8F32-1AE4D857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F8033-EEC1-4780-9821-688239D90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195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21C503-6704-4EEA-B2AD-6435F86DBF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838705-8E76-4423-873A-104DB1DE23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07E6F-FEDC-4EE7-B6F6-951F7055C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805E9-6898-4C59-8CBF-5922A6794E7D}" type="datetimeFigureOut">
              <a:rPr lang="en-US" smtClean="0"/>
              <a:t>9/4/2021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5A8398-77BA-4848-8F41-D0F208D4D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3F3B58-B85E-4072-B377-1709E9F4C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3F8033-EEC1-4780-9821-688239D90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041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BC164A-C890-43D1-A31C-C04F238CC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9AF2DE-E633-4997-9922-DA5DEB12C4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431935-0ED8-414F-8191-B12D024530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805E9-6898-4C59-8CBF-5922A6794E7D}" type="datetimeFigureOut">
              <a:rPr lang="en-US" smtClean="0"/>
              <a:t>9/4/2021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342FE8-44F1-4D73-BAD2-96B275F01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BA615E-634F-49C4-BB5D-0B4D33EC56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3F8033-EEC1-4780-9821-688239D907E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MSIPCMContentMarking" descr="{&quot;HashCode&quot;:-1538819703,&quot;Placement&quot;:&quot;Header&quot;,&quot;Top&quot;:0.0,&quot;Left&quot;:0.0,&quot;SlideWidth&quot;:960,&quot;SlideHeight&quot;:540}">
            <a:extLst>
              <a:ext uri="{FF2B5EF4-FFF2-40B4-BE49-F238E27FC236}">
                <a16:creationId xmlns:a16="http://schemas.microsoft.com/office/drawing/2014/main" id="{E64A7782-DD7E-44B2-859A-E32188E21200}"/>
              </a:ext>
            </a:extLst>
          </p:cNvPr>
          <p:cNvSpPr txBox="1"/>
          <p:nvPr userDrawn="1"/>
        </p:nvSpPr>
        <p:spPr>
          <a:xfrm>
            <a:off x="0" y="0"/>
            <a:ext cx="1634581" cy="249198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0000FF"/>
                </a:solidFill>
                <a:latin typeface="Arial" panose="020B0604020202020204" pitchFamily="34" charset="0"/>
              </a:rPr>
              <a:t>[AMD Official Use Only]</a:t>
            </a:r>
          </a:p>
        </p:txBody>
      </p:sp>
    </p:spTree>
    <p:extLst>
      <p:ext uri="{BB962C8B-B14F-4D97-AF65-F5344CB8AC3E}">
        <p14:creationId xmlns:p14="http://schemas.microsoft.com/office/powerpoint/2010/main" val="4030584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semiengineering.com/the-benefits-of-antifuse-otp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4FA88-6567-48C9-B9A9-8770EAD483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F80A9D-0A9C-49B7-B8E6-EB952D7F32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689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7CC37-6AB2-4BF8-867D-2FC48162C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 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B632B-948C-41DF-B062-E7664409E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https://semiengineering.com/the-benefits-of-antifuse-otp/</a:t>
            </a:r>
            <a:endParaRPr lang="en-US" dirty="0"/>
          </a:p>
          <a:p>
            <a:endParaRPr lang="en-US" dirty="0"/>
          </a:p>
          <a:p>
            <a:r>
              <a:rPr lang="en-US" dirty="0"/>
              <a:t>Defense-in-Depth: A Recipe for Logic Locking to Prevail</a:t>
            </a:r>
          </a:p>
          <a:p>
            <a:endParaRPr lang="en-US" dirty="0"/>
          </a:p>
          <a:p>
            <a:r>
              <a:rPr lang="en-US" dirty="0"/>
              <a:t>Electrically Programmable Fuse (</a:t>
            </a:r>
            <a:r>
              <a:rPr lang="en-US" dirty="0" err="1"/>
              <a:t>eFUSE</a:t>
            </a:r>
            <a:r>
              <a:rPr lang="en-US" dirty="0"/>
              <a:t>) Using Electromigration in </a:t>
            </a:r>
            <a:r>
              <a:rPr lang="en-US" dirty="0" err="1"/>
              <a:t>Silicides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893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770B1-CA29-4922-A777-70F1FF07E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(logic locking)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E78010-2C66-472B-88F0-16C8401F3A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0514" y="1454032"/>
            <a:ext cx="6415231" cy="1172934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8E82976-EEAD-46F3-9F5E-95FDD3C49764}"/>
              </a:ext>
            </a:extLst>
          </p:cNvPr>
          <p:cNvSpPr txBox="1"/>
          <p:nvPr/>
        </p:nvSpPr>
        <p:spPr>
          <a:xfrm>
            <a:off x="212436" y="3878959"/>
            <a:ext cx="985520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IP designer encrypts the netlist and generate locked netlist (additional hardware called “key-gate”)</a:t>
            </a:r>
          </a:p>
          <a:p>
            <a:pPr marL="285750" indent="-285750">
              <a:buFontTx/>
              <a:buChar char="-"/>
            </a:pPr>
            <a:r>
              <a:rPr lang="en-US" dirty="0"/>
              <a:t>Key gate are controlled by 0,1..(IP designer knows exactly what is the value, </a:t>
            </a:r>
            <a:r>
              <a:rPr lang="en-US" dirty="0">
                <a:solidFill>
                  <a:srgbClr val="FF0000"/>
                </a:solidFill>
              </a:rPr>
              <a:t>that’s where fusing comes into picture, fusing helps to permanently put all the information into fuse box and when the chip boot up, this information will be transfer to SRAM</a:t>
            </a:r>
            <a:r>
              <a:rPr lang="en-US" dirty="0"/>
              <a:t>)</a:t>
            </a:r>
          </a:p>
          <a:p>
            <a:pPr marL="285750" indent="-285750">
              <a:buFontTx/>
              <a:buChar char="-"/>
            </a:pPr>
            <a:r>
              <a:rPr lang="en-US" dirty="0"/>
              <a:t>In order to have a functional IC, correct key-gates information needs to pass to the logical gates</a:t>
            </a:r>
          </a:p>
          <a:p>
            <a:pPr marL="285750" indent="-285750">
              <a:buFontTx/>
              <a:buChar char="-"/>
            </a:pPr>
            <a:r>
              <a:rPr lang="en-US" dirty="0"/>
              <a:t>Locked netlist sent to fab to generate layout and future semiconductor manufacturing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122048-792B-43C6-A7A2-E70C3BBED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440" y="1887533"/>
            <a:ext cx="4004396" cy="132183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A484BDD-E0C8-44A8-B580-C8CFA9AFA4B4}"/>
              </a:ext>
            </a:extLst>
          </p:cNvPr>
          <p:cNvCxnSpPr/>
          <p:nvPr/>
        </p:nvCxnSpPr>
        <p:spPr>
          <a:xfrm flipV="1">
            <a:off x="9051636" y="3006436"/>
            <a:ext cx="1754909" cy="10298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6504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884CE-7BBB-486A-AA9B-1F169C9EE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semi custom chip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53D57C-3D10-482B-B839-E6752D5F04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Microsoft Xbox One and the Sony PlayStation 4 are powered by their own custom AMD processor </a:t>
            </a:r>
            <a:r>
              <a:rPr lang="en-US" b="0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unique</a:t>
            </a:r>
            <a:r>
              <a:rPr lang="en-US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 to each console </a:t>
            </a:r>
            <a:r>
              <a:rPr lang="en-US" b="0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design</a:t>
            </a:r>
            <a:r>
              <a:rPr lang="en-US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, yet both pack powerful multi-core AMD CPU and graphics technology in a single chip (</a:t>
            </a:r>
            <a:r>
              <a:rPr lang="en-US" b="0" i="0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APU</a:t>
            </a:r>
            <a:r>
              <a:rPr lang="en-US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).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5389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7DDBF-AA1F-4037-B59E-15635E4EE6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CPU VS GPU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CED8F-3DB8-492C-9B57-A0C461C32E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Processor core: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D41343-99C6-4AF0-AB1A-FCC0E6D7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871" y="1954762"/>
            <a:ext cx="3322060" cy="361068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7E3D48C-CBFA-4636-9847-D2017B33C795}"/>
              </a:ext>
            </a:extLst>
          </p:cNvPr>
          <p:cNvSpPr txBox="1"/>
          <p:nvPr/>
        </p:nvSpPr>
        <p:spPr>
          <a:xfrm>
            <a:off x="7243916" y="2761861"/>
            <a:ext cx="377889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Cores are small processing unit.</a:t>
            </a:r>
          </a:p>
          <a:p>
            <a:r>
              <a:rPr lang="en-US" dirty="0"/>
              <a:t>Run instruction on separate cores in parallel (faster )</a:t>
            </a:r>
          </a:p>
        </p:txBody>
      </p:sp>
    </p:spTree>
    <p:extLst>
      <p:ext uri="{BB962C8B-B14F-4D97-AF65-F5344CB8AC3E}">
        <p14:creationId xmlns:p14="http://schemas.microsoft.com/office/powerpoint/2010/main" val="1596025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CB192-C3B1-403F-BD2C-09A4C58A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err="1"/>
              <a:t>Cont</a:t>
            </a:r>
            <a:r>
              <a:rPr lang="en-US" dirty="0"/>
              <a:t>’..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C42829-9433-4A06-9BE5-18537ED1BE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10328" y="1247018"/>
            <a:ext cx="5302483" cy="3169407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9B5E0A1-65E5-4EA3-8252-FA189023757A}"/>
              </a:ext>
            </a:extLst>
          </p:cNvPr>
          <p:cNvSpPr txBox="1"/>
          <p:nvPr/>
        </p:nvSpPr>
        <p:spPr>
          <a:xfrm>
            <a:off x="1810328" y="4710546"/>
            <a:ext cx="795250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CPU (e.g. 8) has less cores than GPU (a few thousands cores)</a:t>
            </a:r>
          </a:p>
          <a:p>
            <a:pPr marL="285750" indent="-285750">
              <a:buFontTx/>
              <a:buChar char="-"/>
            </a:pPr>
            <a:r>
              <a:rPr lang="en-US" dirty="0"/>
              <a:t>CPU individual core is much more powerful (because they do complex things). But each core can only </a:t>
            </a:r>
            <a:r>
              <a:rPr lang="en-US" dirty="0" err="1"/>
              <a:t>performae</a:t>
            </a:r>
            <a:r>
              <a:rPr lang="en-US" dirty="0"/>
              <a:t> 1 task at a time (it’s kind a </a:t>
            </a:r>
            <a:r>
              <a:rPr lang="en-US" dirty="0">
                <a:solidFill>
                  <a:srgbClr val="FF0000"/>
                </a:solidFill>
              </a:rPr>
              <a:t>waste </a:t>
            </a:r>
            <a:r>
              <a:rPr lang="en-US" dirty="0"/>
              <a:t>to use CPU to </a:t>
            </a:r>
            <a:r>
              <a:rPr lang="en-US" dirty="0" err="1"/>
              <a:t>performe</a:t>
            </a:r>
            <a:r>
              <a:rPr lang="en-US" dirty="0"/>
              <a:t> simple image rendering task)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r>
              <a:rPr lang="en-US" dirty="0"/>
              <a:t>GPU individual core is much less powerful but enough to process image rendering task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3666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6F7DB-8E17-4785-959C-FCD36219A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on chip (used in mobile, tablet only)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A43E153-4C3E-4611-8B61-9D8E079289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3019" y="2050473"/>
            <a:ext cx="4786693" cy="3498983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7A80C0-C079-4660-B6AF-7B7D4CA779A9}"/>
              </a:ext>
            </a:extLst>
          </p:cNvPr>
          <p:cNvSpPr txBox="1"/>
          <p:nvPr/>
        </p:nvSpPr>
        <p:spPr>
          <a:xfrm>
            <a:off x="6668654" y="3315855"/>
            <a:ext cx="46851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Soc in mobile/tablet using ARM architecture (power optimization) and not as powerful as pc processor</a:t>
            </a:r>
          </a:p>
          <a:p>
            <a:endParaRPr lang="en-US" dirty="0"/>
          </a:p>
          <a:p>
            <a:r>
              <a:rPr lang="en-US" dirty="0"/>
              <a:t>PC CPU use CIS architecture </a:t>
            </a:r>
            <a:r>
              <a:rPr lang="en-US"/>
              <a:t>(consume power)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257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AF1CF-87D8-449A-A223-B6F4D27BF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Purpose of logic locking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3D660-8FD6-4EE5-A7E5-7DA4EFDD5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Prevent fab secretly fabricate chip (chips are useless until been activated by the key, that’s where fusing comes into picture)</a:t>
            </a:r>
          </a:p>
          <a:p>
            <a:endParaRPr lang="en-US" dirty="0"/>
          </a:p>
          <a:p>
            <a:r>
              <a:rPr lang="en-US" dirty="0"/>
              <a:t>Even someone reverse engineering and saw the locked netlist, they won’t understand exactly what does the circuit  do!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91836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68B2B-4926-4DB7-825B-0DDCDDBA4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need fuse?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2B3AF-229A-48C4-853D-4C058642E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Fuse (permanently store) key information for each of the IP</a:t>
            </a:r>
          </a:p>
          <a:p>
            <a:endParaRPr lang="en-US" dirty="0"/>
          </a:p>
          <a:p>
            <a:r>
              <a:rPr lang="en-US" dirty="0" err="1"/>
              <a:t>eFuse</a:t>
            </a:r>
            <a:r>
              <a:rPr lang="en-US" dirty="0"/>
              <a:t> is a technology which helps to permanently store information in the chip (similar to ROM)</a:t>
            </a:r>
          </a:p>
          <a:p>
            <a:endParaRPr lang="en-US" dirty="0"/>
          </a:p>
          <a:p>
            <a:r>
              <a:rPr lang="en-US" dirty="0"/>
              <a:t>When device boot up, this information will be </a:t>
            </a:r>
            <a:r>
              <a:rPr lang="en-US" dirty="0" err="1"/>
              <a:t>tranfer</a:t>
            </a:r>
            <a:r>
              <a:rPr lang="en-US" dirty="0"/>
              <a:t> to RAM and </a:t>
            </a:r>
            <a:r>
              <a:rPr lang="en-US" dirty="0" err="1"/>
              <a:t>indivial</a:t>
            </a:r>
            <a:r>
              <a:rPr lang="en-US" dirty="0"/>
              <a:t> IP will go and grab the assigned information (0,1) base on IP address</a:t>
            </a:r>
          </a:p>
        </p:txBody>
      </p:sp>
    </p:spTree>
    <p:extLst>
      <p:ext uri="{BB962C8B-B14F-4D97-AF65-F5344CB8AC3E}">
        <p14:creationId xmlns:p14="http://schemas.microsoft.com/office/powerpoint/2010/main" val="3712907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4EF8A-B821-49C7-ABDF-213329AF9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fuse (effuse vs anti-fuse)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31FC3-5560-46E5-9DE1-BFF542B92A1D}"/>
              </a:ext>
            </a:extLst>
          </p:cNvPr>
          <p:cNvSpPr txBox="1"/>
          <p:nvPr/>
        </p:nvSpPr>
        <p:spPr>
          <a:xfrm>
            <a:off x="1265382" y="1810327"/>
            <a:ext cx="2623127" cy="13255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973092-6A95-4FFD-9AD1-33006B81FB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4751"/>
            <a:ext cx="10515600" cy="4351338"/>
          </a:xfrm>
        </p:spPr>
        <p:txBody>
          <a:bodyPr/>
          <a:lstStyle/>
          <a:p>
            <a:r>
              <a:rPr lang="en-US" dirty="0" err="1"/>
              <a:t>Efuse</a:t>
            </a:r>
            <a:endParaRPr lang="en-US" dirty="0"/>
          </a:p>
          <a:p>
            <a:endParaRPr lang="en-US" dirty="0"/>
          </a:p>
          <a:p>
            <a:pPr lvl="1"/>
            <a:r>
              <a:rPr lang="en-US" dirty="0"/>
              <a:t> Fuse link(metal) can be broken via high voltage/current</a:t>
            </a:r>
          </a:p>
          <a:p>
            <a:pPr lvl="1"/>
            <a:r>
              <a:rPr lang="en-US" dirty="0"/>
              <a:t>Electromigration (high current flow through thin metal cause the metal to move and break the connection)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914400" lvl="2" indent="0">
              <a:buNone/>
            </a:pPr>
            <a:r>
              <a:rPr lang="en-US" dirty="0"/>
              <a:t> </a:t>
            </a:r>
          </a:p>
          <a:p>
            <a:pPr lvl="1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BA021EA-F0E2-45D6-A927-A7D88710C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9393" y="4486042"/>
            <a:ext cx="1802959" cy="16567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4CBA82D-B4A2-438B-B364-37BBAE140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0400" y="4306713"/>
            <a:ext cx="4151312" cy="1520133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F9CEDBB-A5F3-41CA-B68E-7D0C92B88045}"/>
              </a:ext>
            </a:extLst>
          </p:cNvPr>
          <p:cNvCxnSpPr>
            <a:cxnSpLocks/>
          </p:cNvCxnSpPr>
          <p:nvPr/>
        </p:nvCxnSpPr>
        <p:spPr>
          <a:xfrm flipV="1">
            <a:off x="5569527" y="4978400"/>
            <a:ext cx="2817091" cy="883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9AE848D-6EB0-417F-B73D-6D6C0DD6C2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6395" y="5066779"/>
            <a:ext cx="590550" cy="495300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2ED280-F798-464B-9755-213D28CF4753}"/>
              </a:ext>
            </a:extLst>
          </p:cNvPr>
          <p:cNvCxnSpPr>
            <a:stCxn id="15" idx="3"/>
          </p:cNvCxnSpPr>
          <p:nvPr/>
        </p:nvCxnSpPr>
        <p:spPr>
          <a:xfrm flipV="1">
            <a:off x="2576945" y="5190836"/>
            <a:ext cx="1616364" cy="1235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007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D9556-1550-4FDA-8D8B-D0B75470E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6745" y="-42379"/>
            <a:ext cx="10515600" cy="1325563"/>
          </a:xfrm>
        </p:spPr>
        <p:txBody>
          <a:bodyPr/>
          <a:lstStyle/>
          <a:p>
            <a:r>
              <a:rPr lang="en-US" dirty="0"/>
              <a:t>Anti-fuse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60553-0321-4E6A-B235-15F83BBA5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2509" y="997527"/>
            <a:ext cx="11021291" cy="5179436"/>
          </a:xfrm>
        </p:spPr>
        <p:txBody>
          <a:bodyPr/>
          <a:lstStyle/>
          <a:p>
            <a:r>
              <a:rPr lang="en-US" dirty="0"/>
              <a:t>Why we need a dielectric layer(sio2)?</a:t>
            </a:r>
          </a:p>
          <a:p>
            <a:pPr lvl="1"/>
            <a:r>
              <a:rPr lang="en-US" dirty="0"/>
              <a:t>-</a:t>
            </a:r>
            <a:r>
              <a:rPr lang="en-US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gate oxide </a:t>
            </a:r>
            <a:r>
              <a:rPr lang="en-US" b="1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serves as the dielectric layer so</a:t>
            </a:r>
            <a:r>
              <a:rPr lang="en-US" b="0" i="0" dirty="0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that the gate can sustain as high as 1 to 5 MV/cm transverse electric field in order to strongly modulate the conductance of the channel.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Anti-fuse: High voltage causes break down of oxide(form a permanent electrically conductive path)</a:t>
            </a:r>
          </a:p>
        </p:txBody>
      </p:sp>
      <p:pic>
        <p:nvPicPr>
          <p:cNvPr id="8" name="Picture 2" descr="The Physical Structure NMOS Gate oxide Polysilicon Gate">
            <a:extLst>
              <a:ext uri="{FF2B5EF4-FFF2-40B4-BE49-F238E27FC236}">
                <a16:creationId xmlns:a16="http://schemas.microsoft.com/office/drawing/2014/main" id="{10A06B21-ADB6-45F4-8BB3-EBC0AA5FB9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4795" y="2155463"/>
            <a:ext cx="3665393" cy="2749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79582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</TotalTime>
  <Words>527</Words>
  <Application>Microsoft Office PowerPoint</Application>
  <PresentationFormat>Widescreen</PresentationFormat>
  <Paragraphs>56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Arial</vt:lpstr>
      <vt:lpstr>Calibri</vt:lpstr>
      <vt:lpstr>Calibri Light</vt:lpstr>
      <vt:lpstr>Office Theme</vt:lpstr>
      <vt:lpstr>PowerPoint Presentation</vt:lpstr>
      <vt:lpstr>Reference link</vt:lpstr>
      <vt:lpstr>Overview (logic locking)</vt:lpstr>
      <vt:lpstr>What is semi custom chip</vt:lpstr>
      <vt:lpstr>CPU VS GPU</vt:lpstr>
      <vt:lpstr>Cont’..</vt:lpstr>
      <vt:lpstr>System on chip (used in mobile, tablet only)</vt:lpstr>
      <vt:lpstr>Purpose of logic locking</vt:lpstr>
      <vt:lpstr>Why need fuse?</vt:lpstr>
      <vt:lpstr>Types of fuse (effuse vs anti-fuse)</vt:lpstr>
      <vt:lpstr>Anti-fuse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Liu, Xu</dc:creator>
  <cp:lastModifiedBy>Liu, Xu</cp:lastModifiedBy>
  <cp:revision>38</cp:revision>
  <dcterms:created xsi:type="dcterms:W3CDTF">2021-08-31T03:59:48Z</dcterms:created>
  <dcterms:modified xsi:type="dcterms:W3CDTF">2021-09-04T03:50:35Z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8914ebd-7e6c-4e12-a031-a9906be2db14_Enabled">
    <vt:lpwstr>true</vt:lpwstr>
  </property>
  <property fmtid="{D5CDD505-2E9C-101B-9397-08002B2CF9AE}" pid="3" name="MSIP_Label_88914ebd-7e6c-4e12-a031-a9906be2db14_SetDate">
    <vt:lpwstr>2021-09-04T03:50:35Z</vt:lpwstr>
  </property>
  <property fmtid="{D5CDD505-2E9C-101B-9397-08002B2CF9AE}" pid="4" name="MSIP_Label_88914ebd-7e6c-4e12-a031-a9906be2db14_Method">
    <vt:lpwstr>Standard</vt:lpwstr>
  </property>
  <property fmtid="{D5CDD505-2E9C-101B-9397-08002B2CF9AE}" pid="5" name="MSIP_Label_88914ebd-7e6c-4e12-a031-a9906be2db14_Name">
    <vt:lpwstr>AMD Official Use Only-AIP 2.0</vt:lpwstr>
  </property>
  <property fmtid="{D5CDD505-2E9C-101B-9397-08002B2CF9AE}" pid="6" name="MSIP_Label_88914ebd-7e6c-4e12-a031-a9906be2db14_SiteId">
    <vt:lpwstr>3dd8961f-e488-4e60-8e11-a82d994e183d</vt:lpwstr>
  </property>
  <property fmtid="{D5CDD505-2E9C-101B-9397-08002B2CF9AE}" pid="7" name="MSIP_Label_88914ebd-7e6c-4e12-a031-a9906be2db14_ActionId">
    <vt:lpwstr>3b3aa7f9-c755-4e99-85d7-5ec2ff0c334d</vt:lpwstr>
  </property>
  <property fmtid="{D5CDD505-2E9C-101B-9397-08002B2CF9AE}" pid="8" name="MSIP_Label_88914ebd-7e6c-4e12-a031-a9906be2db14_ContentBits">
    <vt:lpwstr>1</vt:lpwstr>
  </property>
</Properties>
</file>
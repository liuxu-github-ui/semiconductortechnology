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58" r:id="rId6"/>
    <p:sldId id="259"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A81E-8224-4742-AD54-5799FFF917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AAA6B1-F290-4299-833F-84197A3C3B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226E0D-05EA-4CCA-9579-99FB1F7572B6}"/>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5" name="Footer Placeholder 4">
            <a:extLst>
              <a:ext uri="{FF2B5EF4-FFF2-40B4-BE49-F238E27FC236}">
                <a16:creationId xmlns:a16="http://schemas.microsoft.com/office/drawing/2014/main" id="{658095B8-96B1-4CE5-92CA-2A99F2A4E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446D40-95FF-48AA-931E-F57211D1415B}"/>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2760019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7A401-3227-48C1-B00C-55245F5846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E55696-316B-48E0-8E54-E24D732155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27F1B3-3784-4139-AF91-0A268A1A5E52}"/>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5" name="Footer Placeholder 4">
            <a:extLst>
              <a:ext uri="{FF2B5EF4-FFF2-40B4-BE49-F238E27FC236}">
                <a16:creationId xmlns:a16="http://schemas.microsoft.com/office/drawing/2014/main" id="{6BDDA47D-D9A9-465C-8D4A-FD39E9801F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2FC315-9D04-44EE-94BB-9901C91A415A}"/>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437799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2DC02-7FCF-4AAD-BDC5-BB839CC26A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1756EEA-85DE-48D3-BF8B-12DD27E436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9DE1B1-6C33-4BF0-88D8-74C853E456FF}"/>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5" name="Footer Placeholder 4">
            <a:extLst>
              <a:ext uri="{FF2B5EF4-FFF2-40B4-BE49-F238E27FC236}">
                <a16:creationId xmlns:a16="http://schemas.microsoft.com/office/drawing/2014/main" id="{7254C0F9-352D-4E5B-9526-8A3E7AC2A8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817ED0-42DC-482D-BEE4-99DC4246B247}"/>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3076151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EB28-5C62-4436-ABC7-9589D394F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766FD6-909F-4BB2-9471-1F21E590B3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547BD2-B250-47A9-897D-E596EE01A5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357784-A3CC-45BE-BC25-B3C46D00BD39}"/>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6" name="Footer Placeholder 5">
            <a:extLst>
              <a:ext uri="{FF2B5EF4-FFF2-40B4-BE49-F238E27FC236}">
                <a16:creationId xmlns:a16="http://schemas.microsoft.com/office/drawing/2014/main" id="{67DD95C7-C23F-4EE7-8EC4-E102130CAA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5A2C3A-DC53-47FD-83B7-6310445F38BD}"/>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2350082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09864-DA82-4487-AEC3-30FE8DD74C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C2D74C-E4AC-40E4-AD19-AC49699430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F5A10F-AC5B-451A-BEB8-DF06F64CA8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8BADDE-7E94-42DB-B949-6724CCAC5E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0D226B-C0F9-4036-A645-B0CC91A0D9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974D7F-A545-44A6-9BD1-F00944818A56}"/>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8" name="Footer Placeholder 7">
            <a:extLst>
              <a:ext uri="{FF2B5EF4-FFF2-40B4-BE49-F238E27FC236}">
                <a16:creationId xmlns:a16="http://schemas.microsoft.com/office/drawing/2014/main" id="{C86B1486-FD0E-40B4-91FA-D6F3DE10C9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C3E74D-ED3F-42D9-A1DD-F38027CACB7A}"/>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427527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ECDDA-2850-40DB-AE74-269BB69B2D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1DC556-0655-420B-8AFD-CEF4A3792F33}"/>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4" name="Footer Placeholder 3">
            <a:extLst>
              <a:ext uri="{FF2B5EF4-FFF2-40B4-BE49-F238E27FC236}">
                <a16:creationId xmlns:a16="http://schemas.microsoft.com/office/drawing/2014/main" id="{AE9E6A5E-ECEE-455B-8460-D2CEC21926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00001A-B131-45CD-9CC9-01B0EEE51621}"/>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3828074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A519E7-425D-4402-85C8-9BD131D00877}"/>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3" name="Footer Placeholder 2">
            <a:extLst>
              <a:ext uri="{FF2B5EF4-FFF2-40B4-BE49-F238E27FC236}">
                <a16:creationId xmlns:a16="http://schemas.microsoft.com/office/drawing/2014/main" id="{DF40C264-A6E6-4D6D-A78D-8CF47FF45F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B12D98-3A63-4285-BD7B-AA021075BF29}"/>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4180849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0EE19-6B78-4DAE-AB9E-6A8B7151D8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4F54F4-CBE3-4B28-84E1-CA3A56C337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1345F7-F89A-4CA0-8716-15BB919E81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738720-BD8E-45CC-8A57-5FFEF36D062F}"/>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6" name="Footer Placeholder 5">
            <a:extLst>
              <a:ext uri="{FF2B5EF4-FFF2-40B4-BE49-F238E27FC236}">
                <a16:creationId xmlns:a16="http://schemas.microsoft.com/office/drawing/2014/main" id="{556AAF57-9885-459D-8F57-2721DC9F3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76C768-F26A-4B53-ACBD-D1B7E348643B}"/>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3607848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F641-E38A-4297-9196-6E7F0B8B15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D1D2F6-449D-4D7D-AB62-C32456900A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B1AF55-3A83-48CE-9AB5-42B6171740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33C159-DDA7-4DE8-BC3F-1E066CBAD691}"/>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6" name="Footer Placeholder 5">
            <a:extLst>
              <a:ext uri="{FF2B5EF4-FFF2-40B4-BE49-F238E27FC236}">
                <a16:creationId xmlns:a16="http://schemas.microsoft.com/office/drawing/2014/main" id="{80DBAE2A-1B32-41C9-ADD4-765908506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4713D6-157E-4F07-86E5-D2B7E4090998}"/>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2649854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4DF01-A29D-4B3A-B487-B2FAC38F47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F6223E-D14F-48FF-8CF7-12BD760FEF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547C5F-9BC5-49AD-A569-6305C0127F29}"/>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5" name="Footer Placeholder 4">
            <a:extLst>
              <a:ext uri="{FF2B5EF4-FFF2-40B4-BE49-F238E27FC236}">
                <a16:creationId xmlns:a16="http://schemas.microsoft.com/office/drawing/2014/main" id="{A671B5B0-174A-4A9A-8517-DD569EB67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ECAD6C-2A5F-4840-8F32-1AE4D857899C}"/>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4247195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21C503-6704-4EEA-B2AD-6435F86DBF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838705-8E76-4423-873A-104DB1DE23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207E6F-FEDC-4EE7-B6F6-951F7055CB69}"/>
              </a:ext>
            </a:extLst>
          </p:cNvPr>
          <p:cNvSpPr>
            <a:spLocks noGrp="1"/>
          </p:cNvSpPr>
          <p:nvPr>
            <p:ph type="dt" sz="half" idx="10"/>
          </p:nvPr>
        </p:nvSpPr>
        <p:spPr/>
        <p:txBody>
          <a:bodyPr/>
          <a:lstStyle/>
          <a:p>
            <a:fld id="{6E1805E9-6898-4C59-8CBF-5922A6794E7D}" type="datetimeFigureOut">
              <a:rPr lang="en-US" smtClean="0"/>
              <a:t>9/3/2021</a:t>
            </a:fld>
            <a:endParaRPr lang="en-US"/>
          </a:p>
        </p:txBody>
      </p:sp>
      <p:sp>
        <p:nvSpPr>
          <p:cNvPr id="5" name="Footer Placeholder 4">
            <a:extLst>
              <a:ext uri="{FF2B5EF4-FFF2-40B4-BE49-F238E27FC236}">
                <a16:creationId xmlns:a16="http://schemas.microsoft.com/office/drawing/2014/main" id="{7B5A8398-77BA-4848-8F41-D0F208D4D7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F3B58-B85E-4072-B377-1709E9F4CFE3}"/>
              </a:ext>
            </a:extLst>
          </p:cNvPr>
          <p:cNvSpPr>
            <a:spLocks noGrp="1"/>
          </p:cNvSpPr>
          <p:nvPr>
            <p:ph type="sldNum" sz="quarter" idx="12"/>
          </p:nvPr>
        </p:nvSpPr>
        <p:spPr/>
        <p:txBody>
          <a:bodyPr/>
          <a:lstStyle/>
          <a:p>
            <a:fld id="{D03F8033-EEC1-4780-9821-688239D907EF}" type="slidenum">
              <a:rPr lang="en-US" smtClean="0"/>
              <a:t>‹#›</a:t>
            </a:fld>
            <a:endParaRPr lang="en-US"/>
          </a:p>
        </p:txBody>
      </p:sp>
    </p:spTree>
    <p:extLst>
      <p:ext uri="{BB962C8B-B14F-4D97-AF65-F5344CB8AC3E}">
        <p14:creationId xmlns:p14="http://schemas.microsoft.com/office/powerpoint/2010/main" val="963041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BC164A-C890-43D1-A31C-C04F238CCC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9AF2DE-E633-4997-9922-DA5DEB12C4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431935-0ED8-414F-8191-B12D024530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805E9-6898-4C59-8CBF-5922A6794E7D}" type="datetimeFigureOut">
              <a:rPr lang="en-US" smtClean="0"/>
              <a:t>9/3/2021</a:t>
            </a:fld>
            <a:endParaRPr lang="en-US"/>
          </a:p>
        </p:txBody>
      </p:sp>
      <p:sp>
        <p:nvSpPr>
          <p:cNvPr id="5" name="Footer Placeholder 4">
            <a:extLst>
              <a:ext uri="{FF2B5EF4-FFF2-40B4-BE49-F238E27FC236}">
                <a16:creationId xmlns:a16="http://schemas.microsoft.com/office/drawing/2014/main" id="{3B342FE8-44F1-4D73-BAD2-96B275F01B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BA615E-634F-49C4-BB5D-0B4D33EC56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3F8033-EEC1-4780-9821-688239D907EF}" type="slidenum">
              <a:rPr lang="en-US" smtClean="0"/>
              <a:t>‹#›</a:t>
            </a:fld>
            <a:endParaRPr lang="en-US"/>
          </a:p>
        </p:txBody>
      </p:sp>
      <p:sp>
        <p:nvSpPr>
          <p:cNvPr id="7" name="MSIPCMContentMarking" descr="{&quot;HashCode&quot;:-1538819703,&quot;Placement&quot;:&quot;Header&quot;,&quot;Top&quot;:0.0,&quot;Left&quot;:0.0,&quot;SlideWidth&quot;:960,&quot;SlideHeight&quot;:540}">
            <a:extLst>
              <a:ext uri="{FF2B5EF4-FFF2-40B4-BE49-F238E27FC236}">
                <a16:creationId xmlns:a16="http://schemas.microsoft.com/office/drawing/2014/main" id="{E64A7782-DD7E-44B2-859A-E32188E21200}"/>
              </a:ext>
            </a:extLst>
          </p:cNvPr>
          <p:cNvSpPr txBox="1"/>
          <p:nvPr userDrawn="1"/>
        </p:nvSpPr>
        <p:spPr>
          <a:xfrm>
            <a:off x="0" y="0"/>
            <a:ext cx="1634581" cy="249198"/>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FF"/>
                </a:solidFill>
                <a:latin typeface="Arial" panose="020B0604020202020204" pitchFamily="34" charset="0"/>
              </a:rPr>
              <a:t>[AMD Official Use Only]</a:t>
            </a:r>
          </a:p>
        </p:txBody>
      </p:sp>
    </p:spTree>
    <p:extLst>
      <p:ext uri="{BB962C8B-B14F-4D97-AF65-F5344CB8AC3E}">
        <p14:creationId xmlns:p14="http://schemas.microsoft.com/office/powerpoint/2010/main" val="4030584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emiengineering.com/the-benefits-of-antifuse-otp/"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FA88-6567-48C9-B9A9-8770EAD483C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7F80A9D-0A9C-49B7-B8E6-EB952D7F325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769689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7CC37-6AB2-4BF8-867D-2FC48162CF70}"/>
              </a:ext>
            </a:extLst>
          </p:cNvPr>
          <p:cNvSpPr>
            <a:spLocks noGrp="1"/>
          </p:cNvSpPr>
          <p:nvPr>
            <p:ph type="title"/>
          </p:nvPr>
        </p:nvSpPr>
        <p:spPr/>
        <p:txBody>
          <a:bodyPr/>
          <a:lstStyle/>
          <a:p>
            <a:r>
              <a:rPr lang="en-US" dirty="0"/>
              <a:t>Reference link</a:t>
            </a:r>
          </a:p>
        </p:txBody>
      </p:sp>
      <p:sp>
        <p:nvSpPr>
          <p:cNvPr id="3" name="Content Placeholder 2">
            <a:extLst>
              <a:ext uri="{FF2B5EF4-FFF2-40B4-BE49-F238E27FC236}">
                <a16:creationId xmlns:a16="http://schemas.microsoft.com/office/drawing/2014/main" id="{B3FB632B-948C-41DF-B062-E7664409E404}"/>
              </a:ext>
            </a:extLst>
          </p:cNvPr>
          <p:cNvSpPr>
            <a:spLocks noGrp="1"/>
          </p:cNvSpPr>
          <p:nvPr>
            <p:ph idx="1"/>
          </p:nvPr>
        </p:nvSpPr>
        <p:spPr/>
        <p:txBody>
          <a:bodyPr/>
          <a:lstStyle/>
          <a:p>
            <a:r>
              <a:rPr lang="en-US" dirty="0">
                <a:hlinkClick r:id="rId2"/>
              </a:rPr>
              <a:t>https://semiengineering.com/the-benefits-of-antifuse-otp/</a:t>
            </a:r>
            <a:endParaRPr lang="en-US" dirty="0"/>
          </a:p>
          <a:p>
            <a:endParaRPr lang="en-US" dirty="0"/>
          </a:p>
          <a:p>
            <a:r>
              <a:rPr lang="en-US" dirty="0"/>
              <a:t>Defense-in-Depth: A Recipe for Logic Locking to Prevail</a:t>
            </a:r>
          </a:p>
          <a:p>
            <a:endParaRPr lang="en-US" dirty="0"/>
          </a:p>
          <a:p>
            <a:r>
              <a:rPr lang="en-US" dirty="0"/>
              <a:t>Electrically Programmable Fuse (</a:t>
            </a:r>
            <a:r>
              <a:rPr lang="en-US" dirty="0" err="1"/>
              <a:t>eFUSE</a:t>
            </a:r>
            <a:r>
              <a:rPr lang="en-US" dirty="0"/>
              <a:t>) Using Electromigration in </a:t>
            </a:r>
            <a:r>
              <a:rPr lang="en-US" dirty="0" err="1"/>
              <a:t>Silicides</a:t>
            </a:r>
            <a:endParaRPr lang="en-US" dirty="0"/>
          </a:p>
        </p:txBody>
      </p:sp>
    </p:spTree>
    <p:extLst>
      <p:ext uri="{BB962C8B-B14F-4D97-AF65-F5344CB8AC3E}">
        <p14:creationId xmlns:p14="http://schemas.microsoft.com/office/powerpoint/2010/main" val="2647893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770B1-CA29-4922-A777-70F1FF07E7C4}"/>
              </a:ext>
            </a:extLst>
          </p:cNvPr>
          <p:cNvSpPr>
            <a:spLocks noGrp="1"/>
          </p:cNvSpPr>
          <p:nvPr>
            <p:ph type="title"/>
          </p:nvPr>
        </p:nvSpPr>
        <p:spPr/>
        <p:txBody>
          <a:bodyPr/>
          <a:lstStyle/>
          <a:p>
            <a:r>
              <a:rPr lang="en-US" dirty="0"/>
              <a:t>Overview (logic locking)</a:t>
            </a:r>
          </a:p>
        </p:txBody>
      </p:sp>
      <p:pic>
        <p:nvPicPr>
          <p:cNvPr id="5" name="Content Placeholder 4">
            <a:extLst>
              <a:ext uri="{FF2B5EF4-FFF2-40B4-BE49-F238E27FC236}">
                <a16:creationId xmlns:a16="http://schemas.microsoft.com/office/drawing/2014/main" id="{A5E78010-2C66-472B-88F0-16C8401F3A68}"/>
              </a:ext>
            </a:extLst>
          </p:cNvPr>
          <p:cNvPicPr>
            <a:picLocks noGrp="1" noChangeAspect="1"/>
          </p:cNvPicPr>
          <p:nvPr>
            <p:ph idx="1"/>
          </p:nvPr>
        </p:nvPicPr>
        <p:blipFill>
          <a:blip r:embed="rId2"/>
          <a:stretch>
            <a:fillRect/>
          </a:stretch>
        </p:blipFill>
        <p:spPr>
          <a:xfrm>
            <a:off x="530514" y="1454032"/>
            <a:ext cx="6415231" cy="1172934"/>
          </a:xfrm>
        </p:spPr>
      </p:pic>
      <p:sp>
        <p:nvSpPr>
          <p:cNvPr id="6" name="TextBox 5">
            <a:extLst>
              <a:ext uri="{FF2B5EF4-FFF2-40B4-BE49-F238E27FC236}">
                <a16:creationId xmlns:a16="http://schemas.microsoft.com/office/drawing/2014/main" id="{88E82976-EEAD-46F3-9F5E-95FDD3C49764}"/>
              </a:ext>
            </a:extLst>
          </p:cNvPr>
          <p:cNvSpPr txBox="1"/>
          <p:nvPr/>
        </p:nvSpPr>
        <p:spPr>
          <a:xfrm>
            <a:off x="212436" y="3878959"/>
            <a:ext cx="9855202" cy="2031325"/>
          </a:xfrm>
          <a:prstGeom prst="rect">
            <a:avLst/>
          </a:prstGeom>
          <a:noFill/>
        </p:spPr>
        <p:txBody>
          <a:bodyPr wrap="square" rtlCol="0">
            <a:spAutoFit/>
          </a:bodyPr>
          <a:lstStyle/>
          <a:p>
            <a:pPr marL="285750" indent="-285750">
              <a:buFontTx/>
              <a:buChar char="-"/>
            </a:pPr>
            <a:r>
              <a:rPr lang="en-US" dirty="0"/>
              <a:t>IP designer encrypts the netlist and generate locked netlist (additional hardware called “key-gate”)</a:t>
            </a:r>
          </a:p>
          <a:p>
            <a:pPr marL="285750" indent="-285750">
              <a:buFontTx/>
              <a:buChar char="-"/>
            </a:pPr>
            <a:r>
              <a:rPr lang="en-US" dirty="0"/>
              <a:t>Key gate are controlled by 0,1..(IP designer knows exactly what is the value, </a:t>
            </a:r>
            <a:r>
              <a:rPr lang="en-US" dirty="0">
                <a:solidFill>
                  <a:srgbClr val="FF0000"/>
                </a:solidFill>
              </a:rPr>
              <a:t>that’s where fusing comes into picture, fusing helps to permanently put all the information into fuse box and when the chip boot up, this information will be transfer to RAM so that individual IP can go and grab</a:t>
            </a:r>
            <a:r>
              <a:rPr lang="en-US" dirty="0"/>
              <a:t>)</a:t>
            </a:r>
          </a:p>
          <a:p>
            <a:pPr marL="285750" indent="-285750">
              <a:buFontTx/>
              <a:buChar char="-"/>
            </a:pPr>
            <a:r>
              <a:rPr lang="en-US" dirty="0"/>
              <a:t>In order to have a functional IC, correct key-gates information needs to pass to the logical gates</a:t>
            </a:r>
          </a:p>
          <a:p>
            <a:pPr marL="285750" indent="-285750">
              <a:buFontTx/>
              <a:buChar char="-"/>
            </a:pPr>
            <a:r>
              <a:rPr lang="en-US" dirty="0"/>
              <a:t>Locked netlist sent to fab to generate layout and future semiconductor manufacturing</a:t>
            </a:r>
          </a:p>
          <a:p>
            <a:pPr marL="285750" indent="-285750">
              <a:buFontTx/>
              <a:buChar char="-"/>
            </a:pPr>
            <a:endParaRPr lang="en-US" dirty="0"/>
          </a:p>
        </p:txBody>
      </p:sp>
      <p:pic>
        <p:nvPicPr>
          <p:cNvPr id="8" name="Picture 7">
            <a:extLst>
              <a:ext uri="{FF2B5EF4-FFF2-40B4-BE49-F238E27FC236}">
                <a16:creationId xmlns:a16="http://schemas.microsoft.com/office/drawing/2014/main" id="{76122048-792B-43C6-A7A2-E70C3BBEDA85}"/>
              </a:ext>
            </a:extLst>
          </p:cNvPr>
          <p:cNvPicPr>
            <a:picLocks noChangeAspect="1"/>
          </p:cNvPicPr>
          <p:nvPr/>
        </p:nvPicPr>
        <p:blipFill>
          <a:blip r:embed="rId3"/>
          <a:stretch>
            <a:fillRect/>
          </a:stretch>
        </p:blipFill>
        <p:spPr>
          <a:xfrm>
            <a:off x="8065440" y="1887533"/>
            <a:ext cx="4004396" cy="1321839"/>
          </a:xfrm>
          <a:prstGeom prst="rect">
            <a:avLst/>
          </a:prstGeom>
        </p:spPr>
      </p:pic>
      <p:cxnSp>
        <p:nvCxnSpPr>
          <p:cNvPr id="10" name="Straight Arrow Connector 9">
            <a:extLst>
              <a:ext uri="{FF2B5EF4-FFF2-40B4-BE49-F238E27FC236}">
                <a16:creationId xmlns:a16="http://schemas.microsoft.com/office/drawing/2014/main" id="{4A484BDD-E0C8-44A8-B580-C8CFA9AFA4B4}"/>
              </a:ext>
            </a:extLst>
          </p:cNvPr>
          <p:cNvCxnSpPr/>
          <p:nvPr/>
        </p:nvCxnSpPr>
        <p:spPr>
          <a:xfrm flipV="1">
            <a:off x="9051636" y="3006436"/>
            <a:ext cx="1754909" cy="1029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6504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AF1CF-87D8-449A-A223-B6F4D27BFAE1}"/>
              </a:ext>
            </a:extLst>
          </p:cNvPr>
          <p:cNvSpPr>
            <a:spLocks noGrp="1"/>
          </p:cNvSpPr>
          <p:nvPr>
            <p:ph type="title"/>
          </p:nvPr>
        </p:nvSpPr>
        <p:spPr/>
        <p:txBody>
          <a:bodyPr/>
          <a:lstStyle/>
          <a:p>
            <a:r>
              <a:rPr lang="en-US" dirty="0"/>
              <a:t>Purpose of logic locking</a:t>
            </a:r>
          </a:p>
        </p:txBody>
      </p:sp>
      <p:sp>
        <p:nvSpPr>
          <p:cNvPr id="3" name="Content Placeholder 2">
            <a:extLst>
              <a:ext uri="{FF2B5EF4-FFF2-40B4-BE49-F238E27FC236}">
                <a16:creationId xmlns:a16="http://schemas.microsoft.com/office/drawing/2014/main" id="{3C53D660-8FD6-4EE5-A7E5-7DA4EFDD52C6}"/>
              </a:ext>
            </a:extLst>
          </p:cNvPr>
          <p:cNvSpPr>
            <a:spLocks noGrp="1"/>
          </p:cNvSpPr>
          <p:nvPr>
            <p:ph idx="1"/>
          </p:nvPr>
        </p:nvSpPr>
        <p:spPr/>
        <p:txBody>
          <a:bodyPr/>
          <a:lstStyle/>
          <a:p>
            <a:r>
              <a:rPr lang="en-US" dirty="0"/>
              <a:t>Prevent fab secretly fabricate chip (chips are useless until been activated by the key, that’s where fusing comes into picture)</a:t>
            </a:r>
          </a:p>
          <a:p>
            <a:endParaRPr lang="en-US" dirty="0"/>
          </a:p>
          <a:p>
            <a:r>
              <a:rPr lang="en-US" dirty="0"/>
              <a:t>Even someone reverse engineering and saw the locked netlist, they won’t understand exactly what does the circuit  do! </a:t>
            </a:r>
          </a:p>
          <a:p>
            <a:endParaRPr lang="en-US" dirty="0"/>
          </a:p>
        </p:txBody>
      </p:sp>
    </p:spTree>
    <p:extLst>
      <p:ext uri="{BB962C8B-B14F-4D97-AF65-F5344CB8AC3E}">
        <p14:creationId xmlns:p14="http://schemas.microsoft.com/office/powerpoint/2010/main" val="3299183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68B2B-4926-4DB7-825B-0DDCDDBA4A4A}"/>
              </a:ext>
            </a:extLst>
          </p:cNvPr>
          <p:cNvSpPr>
            <a:spLocks noGrp="1"/>
          </p:cNvSpPr>
          <p:nvPr>
            <p:ph type="title"/>
          </p:nvPr>
        </p:nvSpPr>
        <p:spPr/>
        <p:txBody>
          <a:bodyPr/>
          <a:lstStyle/>
          <a:p>
            <a:r>
              <a:rPr lang="en-US" dirty="0"/>
              <a:t>Why need fuse?</a:t>
            </a:r>
          </a:p>
        </p:txBody>
      </p:sp>
      <p:sp>
        <p:nvSpPr>
          <p:cNvPr id="3" name="Content Placeholder 2">
            <a:extLst>
              <a:ext uri="{FF2B5EF4-FFF2-40B4-BE49-F238E27FC236}">
                <a16:creationId xmlns:a16="http://schemas.microsoft.com/office/drawing/2014/main" id="{2522B3AF-229A-48C4-853D-4C058642E93B}"/>
              </a:ext>
            </a:extLst>
          </p:cNvPr>
          <p:cNvSpPr>
            <a:spLocks noGrp="1"/>
          </p:cNvSpPr>
          <p:nvPr>
            <p:ph idx="1"/>
          </p:nvPr>
        </p:nvSpPr>
        <p:spPr/>
        <p:txBody>
          <a:bodyPr/>
          <a:lstStyle/>
          <a:p>
            <a:r>
              <a:rPr lang="en-US" dirty="0"/>
              <a:t>Fuse (permanently store) key information for each of the IP</a:t>
            </a:r>
          </a:p>
          <a:p>
            <a:endParaRPr lang="en-US" dirty="0"/>
          </a:p>
          <a:p>
            <a:r>
              <a:rPr lang="en-US" dirty="0" err="1"/>
              <a:t>eFuse</a:t>
            </a:r>
            <a:r>
              <a:rPr lang="en-US" dirty="0"/>
              <a:t> is a technology which helps to permanently store information in the chip (similar to ROM)</a:t>
            </a:r>
          </a:p>
          <a:p>
            <a:endParaRPr lang="en-US" dirty="0"/>
          </a:p>
          <a:p>
            <a:r>
              <a:rPr lang="en-US" dirty="0"/>
              <a:t>When device boot up, this information will be </a:t>
            </a:r>
            <a:r>
              <a:rPr lang="en-US" dirty="0" err="1"/>
              <a:t>tranfer</a:t>
            </a:r>
            <a:r>
              <a:rPr lang="en-US" dirty="0"/>
              <a:t> to RAM and </a:t>
            </a:r>
            <a:r>
              <a:rPr lang="en-US" dirty="0" err="1"/>
              <a:t>indivial</a:t>
            </a:r>
            <a:r>
              <a:rPr lang="en-US" dirty="0"/>
              <a:t> IP will go and grab the assigned information (0,1) base on IP address</a:t>
            </a:r>
          </a:p>
        </p:txBody>
      </p:sp>
    </p:spTree>
    <p:extLst>
      <p:ext uri="{BB962C8B-B14F-4D97-AF65-F5344CB8AC3E}">
        <p14:creationId xmlns:p14="http://schemas.microsoft.com/office/powerpoint/2010/main" val="3712907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4EF8A-B821-49C7-ABDF-213329AF9923}"/>
              </a:ext>
            </a:extLst>
          </p:cNvPr>
          <p:cNvSpPr>
            <a:spLocks noGrp="1"/>
          </p:cNvSpPr>
          <p:nvPr>
            <p:ph type="title"/>
          </p:nvPr>
        </p:nvSpPr>
        <p:spPr/>
        <p:txBody>
          <a:bodyPr/>
          <a:lstStyle/>
          <a:p>
            <a:r>
              <a:rPr lang="en-US" dirty="0"/>
              <a:t>Types of fuse (effuse vs anti-fuse)</a:t>
            </a:r>
          </a:p>
        </p:txBody>
      </p:sp>
      <p:sp>
        <p:nvSpPr>
          <p:cNvPr id="4" name="TextBox 3">
            <a:extLst>
              <a:ext uri="{FF2B5EF4-FFF2-40B4-BE49-F238E27FC236}">
                <a16:creationId xmlns:a16="http://schemas.microsoft.com/office/drawing/2014/main" id="{3E131FC3-5560-46E5-9DE1-BFF542B92A1D}"/>
              </a:ext>
            </a:extLst>
          </p:cNvPr>
          <p:cNvSpPr txBox="1"/>
          <p:nvPr/>
        </p:nvSpPr>
        <p:spPr>
          <a:xfrm>
            <a:off x="1265382" y="1810327"/>
            <a:ext cx="2623127" cy="1325563"/>
          </a:xfrm>
          <a:prstGeom prst="rect">
            <a:avLst/>
          </a:prstGeom>
          <a:noFill/>
        </p:spPr>
        <p:txBody>
          <a:bodyPr wrap="square" rtlCol="0">
            <a:spAutoFit/>
          </a:bodyPr>
          <a:lstStyle/>
          <a:p>
            <a:endParaRPr lang="en-US" dirty="0"/>
          </a:p>
        </p:txBody>
      </p:sp>
      <p:sp>
        <p:nvSpPr>
          <p:cNvPr id="6" name="Content Placeholder 5">
            <a:extLst>
              <a:ext uri="{FF2B5EF4-FFF2-40B4-BE49-F238E27FC236}">
                <a16:creationId xmlns:a16="http://schemas.microsoft.com/office/drawing/2014/main" id="{AD973092-6A95-4FFD-9AD1-33006B81FB85}"/>
              </a:ext>
            </a:extLst>
          </p:cNvPr>
          <p:cNvSpPr>
            <a:spLocks noGrp="1"/>
          </p:cNvSpPr>
          <p:nvPr>
            <p:ph idx="1"/>
          </p:nvPr>
        </p:nvSpPr>
        <p:spPr>
          <a:xfrm>
            <a:off x="838200" y="1414751"/>
            <a:ext cx="10515600" cy="4351338"/>
          </a:xfrm>
        </p:spPr>
        <p:txBody>
          <a:bodyPr/>
          <a:lstStyle/>
          <a:p>
            <a:r>
              <a:rPr lang="en-US" dirty="0" err="1"/>
              <a:t>Efuse</a:t>
            </a:r>
            <a:endParaRPr lang="en-US" dirty="0"/>
          </a:p>
          <a:p>
            <a:endParaRPr lang="en-US" dirty="0"/>
          </a:p>
          <a:p>
            <a:pPr lvl="1"/>
            <a:r>
              <a:rPr lang="en-US" dirty="0"/>
              <a:t> Fuse link(metal) can be broken via high voltage/current</a:t>
            </a:r>
          </a:p>
          <a:p>
            <a:pPr lvl="1"/>
            <a:r>
              <a:rPr lang="en-US" dirty="0"/>
              <a:t>Electromigration (high current flow through thin metal cause the metal to move and break the connection)</a:t>
            </a:r>
          </a:p>
          <a:p>
            <a:pPr lvl="1"/>
            <a:endParaRPr lang="en-US" dirty="0"/>
          </a:p>
          <a:p>
            <a:pPr marL="457200" lvl="1" indent="0">
              <a:buNone/>
            </a:pPr>
            <a:endParaRPr lang="en-US" dirty="0"/>
          </a:p>
          <a:p>
            <a:pPr marL="914400" lvl="2" indent="0">
              <a:buNone/>
            </a:pPr>
            <a:r>
              <a:rPr lang="en-US" dirty="0"/>
              <a:t> </a:t>
            </a:r>
          </a:p>
          <a:p>
            <a:pPr lvl="1"/>
            <a:endParaRPr lang="en-US" dirty="0"/>
          </a:p>
        </p:txBody>
      </p:sp>
      <p:pic>
        <p:nvPicPr>
          <p:cNvPr id="8" name="Picture 7">
            <a:extLst>
              <a:ext uri="{FF2B5EF4-FFF2-40B4-BE49-F238E27FC236}">
                <a16:creationId xmlns:a16="http://schemas.microsoft.com/office/drawing/2014/main" id="{2BA021EA-F0E2-45D6-A927-A7D88710C8DA}"/>
              </a:ext>
            </a:extLst>
          </p:cNvPr>
          <p:cNvPicPr>
            <a:picLocks noChangeAspect="1"/>
          </p:cNvPicPr>
          <p:nvPr/>
        </p:nvPicPr>
        <p:blipFill>
          <a:blip r:embed="rId2"/>
          <a:stretch>
            <a:fillRect/>
          </a:stretch>
        </p:blipFill>
        <p:spPr>
          <a:xfrm>
            <a:off x="4349393" y="4486042"/>
            <a:ext cx="1802959" cy="1656773"/>
          </a:xfrm>
          <a:prstGeom prst="rect">
            <a:avLst/>
          </a:prstGeom>
        </p:spPr>
      </p:pic>
      <p:pic>
        <p:nvPicPr>
          <p:cNvPr id="10" name="Picture 9">
            <a:extLst>
              <a:ext uri="{FF2B5EF4-FFF2-40B4-BE49-F238E27FC236}">
                <a16:creationId xmlns:a16="http://schemas.microsoft.com/office/drawing/2014/main" id="{44CBA82D-B4A2-438B-B364-37BBAE140390}"/>
              </a:ext>
            </a:extLst>
          </p:cNvPr>
          <p:cNvPicPr>
            <a:picLocks noChangeAspect="1"/>
          </p:cNvPicPr>
          <p:nvPr/>
        </p:nvPicPr>
        <p:blipFill>
          <a:blip r:embed="rId3"/>
          <a:stretch>
            <a:fillRect/>
          </a:stretch>
        </p:blipFill>
        <p:spPr>
          <a:xfrm>
            <a:off x="7010400" y="4306713"/>
            <a:ext cx="4151312" cy="1520133"/>
          </a:xfrm>
          <a:prstGeom prst="rect">
            <a:avLst/>
          </a:prstGeom>
        </p:spPr>
      </p:pic>
      <p:cxnSp>
        <p:nvCxnSpPr>
          <p:cNvPr id="12" name="Straight Arrow Connector 11">
            <a:extLst>
              <a:ext uri="{FF2B5EF4-FFF2-40B4-BE49-F238E27FC236}">
                <a16:creationId xmlns:a16="http://schemas.microsoft.com/office/drawing/2014/main" id="{2F9CEDBB-A5F3-41CA-B68E-7D0C92B88045}"/>
              </a:ext>
            </a:extLst>
          </p:cNvPr>
          <p:cNvCxnSpPr>
            <a:cxnSpLocks/>
          </p:cNvCxnSpPr>
          <p:nvPr/>
        </p:nvCxnSpPr>
        <p:spPr>
          <a:xfrm flipV="1">
            <a:off x="5569527" y="4978400"/>
            <a:ext cx="2817091" cy="88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99AE848D-6EB0-417F-B73D-6D6C0DD6C2D7}"/>
              </a:ext>
            </a:extLst>
          </p:cNvPr>
          <p:cNvPicPr>
            <a:picLocks noChangeAspect="1"/>
          </p:cNvPicPr>
          <p:nvPr/>
        </p:nvPicPr>
        <p:blipFill>
          <a:blip r:embed="rId4"/>
          <a:stretch>
            <a:fillRect/>
          </a:stretch>
        </p:blipFill>
        <p:spPr>
          <a:xfrm>
            <a:off x="1986395" y="5066779"/>
            <a:ext cx="590550" cy="495300"/>
          </a:xfrm>
          <a:prstGeom prst="rect">
            <a:avLst/>
          </a:prstGeom>
        </p:spPr>
      </p:pic>
      <p:cxnSp>
        <p:nvCxnSpPr>
          <p:cNvPr id="17" name="Straight Arrow Connector 16">
            <a:extLst>
              <a:ext uri="{FF2B5EF4-FFF2-40B4-BE49-F238E27FC236}">
                <a16:creationId xmlns:a16="http://schemas.microsoft.com/office/drawing/2014/main" id="{1E2ED280-F798-464B-9755-213D28CF4753}"/>
              </a:ext>
            </a:extLst>
          </p:cNvPr>
          <p:cNvCxnSpPr>
            <a:stCxn id="15" idx="3"/>
          </p:cNvCxnSpPr>
          <p:nvPr/>
        </p:nvCxnSpPr>
        <p:spPr>
          <a:xfrm flipV="1">
            <a:off x="2576945" y="5190836"/>
            <a:ext cx="1616364" cy="123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6007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D9556-1550-4FDA-8D8B-D0B75470E5F8}"/>
              </a:ext>
            </a:extLst>
          </p:cNvPr>
          <p:cNvSpPr>
            <a:spLocks noGrp="1"/>
          </p:cNvSpPr>
          <p:nvPr>
            <p:ph type="title"/>
          </p:nvPr>
        </p:nvSpPr>
        <p:spPr>
          <a:xfrm>
            <a:off x="976745" y="-42379"/>
            <a:ext cx="10515600" cy="1325563"/>
          </a:xfrm>
        </p:spPr>
        <p:txBody>
          <a:bodyPr/>
          <a:lstStyle/>
          <a:p>
            <a:r>
              <a:rPr lang="en-US" dirty="0"/>
              <a:t>Anti-fuse </a:t>
            </a:r>
          </a:p>
        </p:txBody>
      </p:sp>
      <p:sp>
        <p:nvSpPr>
          <p:cNvPr id="3" name="Content Placeholder 2">
            <a:extLst>
              <a:ext uri="{FF2B5EF4-FFF2-40B4-BE49-F238E27FC236}">
                <a16:creationId xmlns:a16="http://schemas.microsoft.com/office/drawing/2014/main" id="{A2860553-0321-4E6A-B235-15F83BBA56B1}"/>
              </a:ext>
            </a:extLst>
          </p:cNvPr>
          <p:cNvSpPr>
            <a:spLocks noGrp="1"/>
          </p:cNvSpPr>
          <p:nvPr>
            <p:ph idx="1"/>
          </p:nvPr>
        </p:nvSpPr>
        <p:spPr>
          <a:xfrm>
            <a:off x="332509" y="997527"/>
            <a:ext cx="11021291" cy="5179436"/>
          </a:xfrm>
        </p:spPr>
        <p:txBody>
          <a:bodyPr/>
          <a:lstStyle/>
          <a:p>
            <a:r>
              <a:rPr lang="en-US" dirty="0"/>
              <a:t>Why we need a dielectric layer(sio2)?</a:t>
            </a:r>
          </a:p>
          <a:p>
            <a:pPr lvl="1"/>
            <a:r>
              <a:rPr lang="en-US" dirty="0"/>
              <a:t>-</a:t>
            </a:r>
            <a:r>
              <a:rPr lang="en-US" b="0" i="0" dirty="0">
                <a:solidFill>
                  <a:srgbClr val="202124"/>
                </a:solidFill>
                <a:effectLst/>
                <a:latin typeface="arial" panose="020B0604020202020204" pitchFamily="34" charset="0"/>
              </a:rPr>
              <a:t>The gate oxide </a:t>
            </a:r>
            <a:r>
              <a:rPr lang="en-US" b="1" i="0" dirty="0">
                <a:solidFill>
                  <a:srgbClr val="202124"/>
                </a:solidFill>
                <a:effectLst/>
                <a:latin typeface="arial" panose="020B0604020202020204" pitchFamily="34" charset="0"/>
              </a:rPr>
              <a:t>serves as the dielectric layer so</a:t>
            </a:r>
            <a:r>
              <a:rPr lang="en-US" b="0" i="0" dirty="0">
                <a:solidFill>
                  <a:srgbClr val="202124"/>
                </a:solidFill>
                <a:effectLst/>
                <a:latin typeface="arial" panose="020B0604020202020204" pitchFamily="34" charset="0"/>
              </a:rPr>
              <a:t> that the gate can sustain as high as 1 to 5 MV/cm transverse electric field in order to strongly modulate the conductance of the channel.</a:t>
            </a:r>
          </a:p>
          <a:p>
            <a:pPr lvl="1"/>
            <a:endParaRPr lang="en-US" dirty="0"/>
          </a:p>
          <a:p>
            <a:pPr lvl="1"/>
            <a:endParaRPr lang="en-US" dirty="0"/>
          </a:p>
          <a:p>
            <a:pPr lvl="1"/>
            <a:endParaRPr lang="en-US" dirty="0"/>
          </a:p>
          <a:p>
            <a:endParaRPr lang="en-US" dirty="0"/>
          </a:p>
          <a:p>
            <a:endParaRPr lang="en-US" dirty="0"/>
          </a:p>
          <a:p>
            <a:endParaRPr lang="en-US" dirty="0"/>
          </a:p>
          <a:p>
            <a:r>
              <a:rPr lang="en-US" dirty="0"/>
              <a:t>Anti-fuse: High voltage causes break down of oxide(form a permanent electrically conductive path)</a:t>
            </a:r>
          </a:p>
        </p:txBody>
      </p:sp>
      <p:pic>
        <p:nvPicPr>
          <p:cNvPr id="8" name="Picture 2" descr="The Physical Structure NMOS Gate oxide Polysilicon Gate">
            <a:extLst>
              <a:ext uri="{FF2B5EF4-FFF2-40B4-BE49-F238E27FC236}">
                <a16:creationId xmlns:a16="http://schemas.microsoft.com/office/drawing/2014/main" id="{10A06B21-ADB6-45F4-8BB3-EBC0AA5FB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4795" y="2155463"/>
            <a:ext cx="3665393" cy="2749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958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TotalTime>
  <Words>354</Words>
  <Application>Microsoft Office PowerPoint</Application>
  <PresentationFormat>Widescreen</PresentationFormat>
  <Paragraphs>39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vt:lpstr>
      <vt:lpstr>Calibri</vt:lpstr>
      <vt:lpstr>Calibri Light</vt:lpstr>
      <vt:lpstr>Office Theme</vt:lpstr>
      <vt:lpstr>PowerPoint Presentation</vt:lpstr>
      <vt:lpstr>Reference link</vt:lpstr>
      <vt:lpstr>Overview (logic locking)</vt:lpstr>
      <vt:lpstr>Purpose of logic locking</vt:lpstr>
      <vt:lpstr>Why need fuse?</vt:lpstr>
      <vt:lpstr>Types of fuse (effuse vs anti-fuse)</vt:lpstr>
      <vt:lpstr>Anti-fuse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Liu, Xu</dc:creator>
  <cp:lastModifiedBy>Liu, Xu</cp:lastModifiedBy>
  <cp:revision>25</cp:revision>
  <dcterms:created xsi:type="dcterms:W3CDTF">2021-08-31T03:59:48Z</dcterms:created>
  <dcterms:modified xsi:type="dcterms:W3CDTF">2021-09-03T06:01:58Z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8914ebd-7e6c-4e12-a031-a9906be2db14_Enabled">
    <vt:lpwstr>true</vt:lpwstr>
  </property>
  <property fmtid="{D5CDD505-2E9C-101B-9397-08002B2CF9AE}" pid="3" name="MSIP_Label_88914ebd-7e6c-4e12-a031-a9906be2db14_SetDate">
    <vt:lpwstr>2021-09-03T06:01:58Z</vt:lpwstr>
  </property>
  <property fmtid="{D5CDD505-2E9C-101B-9397-08002B2CF9AE}" pid="4" name="MSIP_Label_88914ebd-7e6c-4e12-a031-a9906be2db14_Method">
    <vt:lpwstr>Standard</vt:lpwstr>
  </property>
  <property fmtid="{D5CDD505-2E9C-101B-9397-08002B2CF9AE}" pid="5" name="MSIP_Label_88914ebd-7e6c-4e12-a031-a9906be2db14_Name">
    <vt:lpwstr>AMD Official Use Only-AIP 2.0</vt:lpwstr>
  </property>
  <property fmtid="{D5CDD505-2E9C-101B-9397-08002B2CF9AE}" pid="6" name="MSIP_Label_88914ebd-7e6c-4e12-a031-a9906be2db14_SiteId">
    <vt:lpwstr>3dd8961f-e488-4e60-8e11-a82d994e183d</vt:lpwstr>
  </property>
  <property fmtid="{D5CDD505-2E9C-101B-9397-08002B2CF9AE}" pid="7" name="MSIP_Label_88914ebd-7e6c-4e12-a031-a9906be2db14_ActionId">
    <vt:lpwstr>3b3aa7f9-c755-4e99-85d7-5ec2ff0c334d</vt:lpwstr>
  </property>
  <property fmtid="{D5CDD505-2E9C-101B-9397-08002B2CF9AE}" pid="8" name="MSIP_Label_88914ebd-7e6c-4e12-a031-a9906be2db14_ContentBits">
    <vt:lpwstr>1</vt:lpwstr>
  </property>
</Properties>
</file>
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70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7" r:id="rId13"/>
    <p:sldId id="271" r:id="rId14"/>
    <p:sldId id="266" r:id="rId15"/>
    <p:sldId id="268" r:id="rId16"/>
    <p:sldId id="269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2" autoAdjust="0"/>
    <p:restoredTop sz="86311" autoAdjust="0"/>
  </p:normalViewPr>
  <p:slideViewPr>
    <p:cSldViewPr snapToGrid="0">
      <p:cViewPr varScale="1">
        <p:scale>
          <a:sx n="95" d="100"/>
          <a:sy n="95" d="100"/>
        </p:scale>
        <p:origin x="49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9F53C8-D2FC-4107-90E8-0545E169AF3E}" type="datetimeFigureOut">
              <a:rPr lang="en-US" smtClean="0"/>
              <a:t>8/30/2021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F7B91E-C5F9-4AA5-8690-E6B78A99A9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0985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F7B91E-C5F9-4AA5-8690-E6B78A99A96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77533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1 (output) connects to Unit 2 (input)</a:t>
            </a:r>
          </a:p>
          <a:p>
            <a:endParaRPr lang="en-US" dirty="0"/>
          </a:p>
          <a:p>
            <a:r>
              <a:rPr lang="en-US" dirty="0"/>
              <a:t>“BYPASS MODE”: bypass register is activated, and boundary scan register is transparent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Lato" panose="020F0502020204030203" pitchFamily="34" charset="0"/>
              </a:rPr>
              <a:t>“EXTEST MODE” : Boundary register is activated. Check which input pins (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Lato" panose="020F0502020204030203" pitchFamily="34" charset="0"/>
              </a:rPr>
              <a:t>open,short</a:t>
            </a:r>
            <a:r>
              <a:rPr lang="en-US" b="0" i="0" dirty="0">
                <a:solidFill>
                  <a:srgbClr val="000000"/>
                </a:solidFill>
                <a:effectLst/>
                <a:latin typeface="Lato" panose="020F0502020204030203" pitchFamily="34" charset="0"/>
              </a:rPr>
              <a:t>..) have problem via inputting different bits 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F7B91E-C5F9-4AA5-8690-E6B78A99A96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99167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TDI: Shift in bits (positive TCK edge) when the state is shift IR </a:t>
            </a:r>
          </a:p>
          <a:p>
            <a:r>
              <a:rPr lang="en-US" dirty="0"/>
              <a:t>TDO: Shift out bits via TDO (negative TCK edge) when the state is shift IR</a:t>
            </a:r>
          </a:p>
          <a:p>
            <a:r>
              <a:rPr lang="en-US" dirty="0"/>
              <a:t>TMS; Change state (positive TCK edge)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F7B91E-C5F9-4AA5-8690-E6B78A99A96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8389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link :https://www.tutorialspoint.com/computer_logical_organization/digital_registers.htm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F7B91E-C5F9-4AA5-8690-E6B78A99A96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1484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F7B91E-C5F9-4AA5-8690-E6B78A99A96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96846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Scan : load pattern</a:t>
            </a:r>
          </a:p>
          <a:p>
            <a:r>
              <a:rPr lang="en-US" dirty="0"/>
              <a:t>Update: Apply pattern</a:t>
            </a:r>
          </a:p>
          <a:p>
            <a:r>
              <a:rPr lang="en-US" dirty="0"/>
              <a:t>Capture: Capture results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F7B91E-C5F9-4AA5-8690-E6B78A99A96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9544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F7B91E-C5F9-4AA5-8690-E6B78A99A96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3936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https://www.youtube.com/watch?v=PqGhRrgLyaU</a:t>
            </a:r>
          </a:p>
          <a:p>
            <a:r>
              <a:rPr lang="en-US" dirty="0"/>
              <a:t>            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F7B91E-C5F9-4AA5-8690-E6B78A99A96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52554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F7B91E-C5F9-4AA5-8690-E6B78A99A96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80510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F7B91E-C5F9-4AA5-8690-E6B78A99A96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6594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27D13-73CD-47C0-A35F-C15AC2A735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82448D-9682-4061-8CEB-956CE8119A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263E1D-FB4A-4347-8345-4411EEC11F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B350B-6E31-4D87-B3C4-5B316FC4362F}" type="datetimeFigureOut">
              <a:rPr lang="en-US" smtClean="0"/>
              <a:t>8/30/2021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9773EC-AB4E-4388-B734-A08757504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BCB526-6833-4B10-9CDF-CA61334781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0760B-B5A4-43CD-BEF8-D87BBC99E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6779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DD506-7A71-4D0C-AD87-63B2A455D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E5717F-96EF-4183-B6E3-ED1AD19F74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D8643D-9303-4A5C-B221-36FB7B2176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B350B-6E31-4D87-B3C4-5B316FC4362F}" type="datetimeFigureOut">
              <a:rPr lang="en-US" smtClean="0"/>
              <a:t>8/30/2021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EA52AF-C1BF-48E2-BB4E-F1746BFCD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ACF103-4C08-449F-9A3B-BD0EA3723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0760B-B5A4-43CD-BEF8-D87BBC99E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557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8AD7C-C2E4-48A8-850B-2C0A483D7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2B771A-131E-4F54-8959-A845B17672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F300A3-F849-4458-9987-1D8BB1AD9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B350B-6E31-4D87-B3C4-5B316FC4362F}" type="datetimeFigureOut">
              <a:rPr lang="en-US" smtClean="0"/>
              <a:t>8/30/2021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EB82CB-EE3D-44F6-8E52-F1B2A6B09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FFFEF7-CACE-47B4-B0EB-C5C0AF185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0760B-B5A4-43CD-BEF8-D87BBC99E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97280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37E85-0881-458B-9ECD-CDA7BF77B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FF7A04-D322-4646-B72C-F123E07465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F56C96-4CDD-4FA5-8172-AD48F78B24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C2E712-8871-4E8F-9970-602BE322EA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B350B-6E31-4D87-B3C4-5B316FC4362F}" type="datetimeFigureOut">
              <a:rPr lang="en-US" smtClean="0"/>
              <a:t>8/30/2021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B0ED6E-8CE4-4605-B2B8-E776A2A58E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F3DB90-0894-4B6B-BE02-D01B84046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0760B-B5A4-43CD-BEF8-D87BBC99E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4399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79CCA-69A2-4101-8E42-413773833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9E751B-8683-43B7-BB0F-96FD0F1CC7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648106-7983-4FC2-9643-FA40D29D52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E40766B-40CB-4728-A791-C34C114C8E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D72262-06C5-42C2-9840-A47B1C77CC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2E9536-ABED-41ED-AFB8-B876605ED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B350B-6E31-4D87-B3C4-5B316FC4362F}" type="datetimeFigureOut">
              <a:rPr lang="en-US" smtClean="0"/>
              <a:t>8/30/2021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0D200F-28CA-4DC8-9772-69FE670A2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A75E8F6-632E-4DE1-A799-E5C61D74A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0760B-B5A4-43CD-BEF8-D87BBC99E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8002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D3300-05D6-495B-B716-27A572388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4BEDE2-4C38-481B-8059-2D0C2DCE6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B350B-6E31-4D87-B3C4-5B316FC4362F}" type="datetimeFigureOut">
              <a:rPr lang="en-US" smtClean="0"/>
              <a:t>8/30/2021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8066F5-8D95-4B39-964F-B6D6E5F3C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C577ED-0AC0-4106-90E4-6ACC173EF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0760B-B5A4-43CD-BEF8-D87BBC99E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5703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833DDB-D5A3-4EC9-88A1-03EF32DD4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B350B-6E31-4D87-B3C4-5B316FC4362F}" type="datetimeFigureOut">
              <a:rPr lang="en-US" smtClean="0"/>
              <a:t>8/30/2021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1AF71E-B74F-4011-98CF-A88FFFE530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A91654-93FA-4DFB-A323-E590D51A0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0760B-B5A4-43CD-BEF8-D87BBC99E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0267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C9982-C9F5-4000-AD64-55C962815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0DA95D-0791-4D65-8448-F63C00D6FD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EA3C27-E9EF-4427-994F-C008B2D15E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054B47-572D-4198-9774-FEEADBC65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B350B-6E31-4D87-B3C4-5B316FC4362F}" type="datetimeFigureOut">
              <a:rPr lang="en-US" smtClean="0"/>
              <a:t>8/30/2021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241E54-A773-46C1-AD68-53F653BBA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350F4E-52A7-46CB-9579-352DAA5C6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0760B-B5A4-43CD-BEF8-D87BBC99E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59183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F7F7BB-553A-4635-8C9F-EB0CAEEB5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F67372-24E5-4C16-9F47-D074DC7439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8382FD-EDAC-417E-B401-1BFD405B7E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31B92A-2ACA-4CC9-84CC-C5AFD2014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B350B-6E31-4D87-B3C4-5B316FC4362F}" type="datetimeFigureOut">
              <a:rPr lang="en-US" smtClean="0"/>
              <a:t>8/30/2021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2B654A-BAE2-459C-81A3-FC6F8F9D1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BFE5EB-C0D9-4E16-B3EA-C14F6BAA9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0760B-B5A4-43CD-BEF8-D87BBC99E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650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7C76F-2795-48F7-B37D-6C27C211C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0CF0EF-37B2-40B1-BF52-E1F5958664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C72B7-EEFD-4BE9-9BFA-34B51DEEE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B350B-6E31-4D87-B3C4-5B316FC4362F}" type="datetimeFigureOut">
              <a:rPr lang="en-US" smtClean="0"/>
              <a:t>8/30/2021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E8CC89-0B28-43EB-85D0-AF4F2CC1F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78C1B9-B075-4BAE-9BE1-2B8AC6C14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0760B-B5A4-43CD-BEF8-D87BBC99E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868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FF1716-D912-492C-881E-E2BD76FCFE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04F8F9-D7F2-4F3A-8D09-56F5355E7E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6F957B-D9FA-4609-968B-384070D95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B350B-6E31-4D87-B3C4-5B316FC4362F}" type="datetimeFigureOut">
              <a:rPr lang="en-US" smtClean="0"/>
              <a:t>8/30/2021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672C61-E7FA-4C54-B81A-29A00AC77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55D8A0-1AFA-43A8-96E3-05839B67C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0760B-B5A4-43CD-BEF8-D87BBC99E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1085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32618BE-CC54-4FF2-8BA2-E5CD99AFE9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76CA3A-1C94-4CC5-953C-E4C75D89F4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17F636-922D-42FB-8F80-F7181CF211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8B350B-6E31-4D87-B3C4-5B316FC4362F}" type="datetimeFigureOut">
              <a:rPr lang="en-US" smtClean="0"/>
              <a:t>8/30/2021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E05F15-DDA6-4D5A-AE3E-295AADFE37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F481CF-03FF-4175-9EFB-D5D4849764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70760B-B5A4-43CD-BEF8-D87BBC99E64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MSIPCMContentMarking" descr="{&quot;HashCode&quot;:-1538819703,&quot;Placement&quot;:&quot;Header&quot;,&quot;Top&quot;:0.0,&quot;Left&quot;:0.0,&quot;SlideWidth&quot;:960,&quot;SlideHeight&quot;:540}">
            <a:extLst>
              <a:ext uri="{FF2B5EF4-FFF2-40B4-BE49-F238E27FC236}">
                <a16:creationId xmlns:a16="http://schemas.microsoft.com/office/drawing/2014/main" id="{DD0FD271-6825-4D87-96B7-DEBC0BABF642}"/>
              </a:ext>
            </a:extLst>
          </p:cNvPr>
          <p:cNvSpPr txBox="1"/>
          <p:nvPr userDrawn="1"/>
        </p:nvSpPr>
        <p:spPr>
          <a:xfrm>
            <a:off x="0" y="0"/>
            <a:ext cx="1634581" cy="249198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0000FF"/>
                </a:solidFill>
                <a:latin typeface="Arial" panose="020B0604020202020204" pitchFamily="34" charset="0"/>
              </a:rPr>
              <a:t>[AMD Official Use Only]</a:t>
            </a:r>
          </a:p>
        </p:txBody>
      </p:sp>
    </p:spTree>
    <p:extLst>
      <p:ext uri="{BB962C8B-B14F-4D97-AF65-F5344CB8AC3E}">
        <p14:creationId xmlns:p14="http://schemas.microsoft.com/office/powerpoint/2010/main" val="4150153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tecoserv.online/jtag-boundary-scan.html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computer_logical_organization/digital_registers.htm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1022D-7E87-4322-A59A-4D6C5D84A6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Jtag</a:t>
            </a:r>
            <a:r>
              <a:rPr lang="en-US" dirty="0"/>
              <a:t>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A156B5-ED97-4C22-B27F-10A060D9D63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4334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7D9D5-3D6A-4B3D-ACA1-C3E772B22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What is </a:t>
            </a:r>
            <a:r>
              <a:rPr lang="en-US" dirty="0" err="1"/>
              <a:t>Jtag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A542A2-11C3-47A2-B89A-34A2E9F0E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657" y="1553378"/>
            <a:ext cx="11592453" cy="5027304"/>
          </a:xfrm>
        </p:spPr>
        <p:txBody>
          <a:bodyPr/>
          <a:lstStyle/>
          <a:p>
            <a:r>
              <a:rPr lang="en-US" b="0" i="0" dirty="0">
                <a:effectLst/>
                <a:latin typeface="Arial" panose="020B0604020202020204" pitchFamily="34" charset="0"/>
              </a:rPr>
              <a:t>Joint Test Action Group (IEEE </a:t>
            </a:r>
            <a:r>
              <a:rPr lang="en-US" b="1" i="0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standard</a:t>
            </a:r>
            <a:r>
              <a:rPr lang="en-US" b="0" i="0" dirty="0">
                <a:effectLst/>
                <a:latin typeface="Arial" panose="020B0604020202020204" pitchFamily="34" charset="0"/>
              </a:rPr>
              <a:t>. Design rules which helps chip, chip interconnects, board level testing) also called boundary scan test</a:t>
            </a:r>
          </a:p>
          <a:p>
            <a:endParaRPr lang="en-US" dirty="0">
              <a:latin typeface="Arial" panose="020B0604020202020204" pitchFamily="34" charset="0"/>
            </a:endParaRPr>
          </a:p>
          <a:p>
            <a:r>
              <a:rPr lang="en-US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“Bed-of-nails” method to test chip outdated (pins getting </a:t>
            </a:r>
            <a:r>
              <a:rPr lang="en-US" b="0" i="0" dirty="0">
                <a:solidFill>
                  <a:srgbClr val="FF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smaller</a:t>
            </a:r>
            <a:r>
              <a:rPr lang="en-US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0" indent="0">
              <a:buNone/>
            </a:pPr>
            <a:endParaRPr lang="en-US" b="0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</a:rPr>
              <a:t>Simple </a:t>
            </a:r>
            <a:r>
              <a:rPr lang="en-US" dirty="0" err="1">
                <a:latin typeface="Arial" panose="020B0604020202020204" pitchFamily="34" charset="0"/>
              </a:rPr>
              <a:t>Jtag</a:t>
            </a:r>
            <a:r>
              <a:rPr lang="en-US" dirty="0">
                <a:latin typeface="Arial" panose="020B0604020202020204" pitchFamily="34" charset="0"/>
              </a:rPr>
              <a:t>(with simple </a:t>
            </a:r>
            <a:r>
              <a:rPr lang="en-US" dirty="0">
                <a:solidFill>
                  <a:srgbClr val="FF0000"/>
                </a:solidFill>
                <a:latin typeface="Arial" panose="020B0604020202020204" pitchFamily="34" charset="0"/>
              </a:rPr>
              <a:t>4 pins TDI,TDO,TCK,TMS</a:t>
            </a:r>
            <a:r>
              <a:rPr lang="en-US" dirty="0">
                <a:latin typeface="Arial" panose="020B0604020202020204" pitchFamily="34" charset="0"/>
              </a:rPr>
              <a:t>) can complete complex testing task which traditionally needs “bed-of-nail” technique.</a:t>
            </a:r>
          </a:p>
          <a:p>
            <a:endParaRPr lang="en-US" dirty="0">
              <a:latin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</a:endParaRP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64089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4F0B2-1BE3-4DD9-A85B-39A597A18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Cont</a:t>
            </a:r>
            <a:r>
              <a:rPr lang="en-US" dirty="0"/>
              <a:t>’</a:t>
            </a:r>
          </a:p>
        </p:txBody>
      </p:sp>
      <p:pic>
        <p:nvPicPr>
          <p:cNvPr id="5" name="Content Placeholder 4" descr="Diagram&#10;&#10;Description automatically generated">
            <a:extLst>
              <a:ext uri="{FF2B5EF4-FFF2-40B4-BE49-F238E27FC236}">
                <a16:creationId xmlns:a16="http://schemas.microsoft.com/office/drawing/2014/main" id="{D35ED5C0-DC70-4CC3-90FF-9B7CE99DCB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167951"/>
            <a:ext cx="10515600" cy="3666686"/>
          </a:xfrm>
        </p:spPr>
      </p:pic>
    </p:spTree>
    <p:extLst>
      <p:ext uri="{BB962C8B-B14F-4D97-AF65-F5344CB8AC3E}">
        <p14:creationId xmlns:p14="http://schemas.microsoft.com/office/powerpoint/2010/main" val="13258476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375E9-900F-41CA-B40B-D2D3126F9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Chip level testing</a:t>
            </a:r>
          </a:p>
        </p:txBody>
      </p:sp>
      <p:pic>
        <p:nvPicPr>
          <p:cNvPr id="5" name="Content Placeholder 4" descr="Diagram, schematic&#10;&#10;Description automatically generated">
            <a:extLst>
              <a:ext uri="{FF2B5EF4-FFF2-40B4-BE49-F238E27FC236}">
                <a16:creationId xmlns:a16="http://schemas.microsoft.com/office/drawing/2014/main" id="{9C17B14E-CBA0-4768-B60C-D03E76BC40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47935" y="1690688"/>
            <a:ext cx="3619111" cy="3472210"/>
          </a:xfr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5107E1C-7D44-4D32-B506-05B3FF4B4ACF}"/>
              </a:ext>
            </a:extLst>
          </p:cNvPr>
          <p:cNvSpPr txBox="1"/>
          <p:nvPr/>
        </p:nvSpPr>
        <p:spPr>
          <a:xfrm>
            <a:off x="163643" y="1870570"/>
            <a:ext cx="29842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Shift in data to the core logic and observer output</a:t>
            </a:r>
          </a:p>
        </p:txBody>
      </p:sp>
      <p:pic>
        <p:nvPicPr>
          <p:cNvPr id="14" name="Picture 13" descr="Text&#10;&#10;Description automatically generated">
            <a:extLst>
              <a:ext uri="{FF2B5EF4-FFF2-40B4-BE49-F238E27FC236}">
                <a16:creationId xmlns:a16="http://schemas.microsoft.com/office/drawing/2014/main" id="{D09B5E65-5F5A-45D2-B3DE-78A4A25771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5289" y="5222194"/>
            <a:ext cx="7905750" cy="1533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18882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7AAE7-9866-4A56-89F1-B3A827A2B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565" y="-102212"/>
            <a:ext cx="10515600" cy="1325563"/>
          </a:xfrm>
        </p:spPr>
        <p:txBody>
          <a:bodyPr/>
          <a:lstStyle/>
          <a:p>
            <a:r>
              <a:rPr lang="en-US" dirty="0"/>
              <a:t>Chip to chip interconnect testing (</a:t>
            </a:r>
            <a:r>
              <a:rPr lang="en-US" dirty="0">
                <a:hlinkClick r:id="rId3"/>
              </a:rPr>
              <a:t>online reference</a:t>
            </a:r>
            <a:r>
              <a:rPr lang="en-US" dirty="0"/>
              <a:t>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D262FA6-F5AF-4357-BB1C-BAB30E28C2E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76715" y="1132631"/>
            <a:ext cx="5243723" cy="47858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BA0B130-76B8-4346-A92B-4314B9CAF48E}"/>
              </a:ext>
            </a:extLst>
          </p:cNvPr>
          <p:cNvCxnSpPr>
            <a:cxnSpLocks/>
          </p:cNvCxnSpPr>
          <p:nvPr/>
        </p:nvCxnSpPr>
        <p:spPr>
          <a:xfrm>
            <a:off x="5167008" y="3072984"/>
            <a:ext cx="1334280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3C09A28E-4F48-40BB-BE75-F48E91C58D8A}"/>
              </a:ext>
            </a:extLst>
          </p:cNvPr>
          <p:cNvSpPr txBox="1"/>
          <p:nvPr/>
        </p:nvSpPr>
        <p:spPr>
          <a:xfrm>
            <a:off x="1558977" y="6100997"/>
            <a:ext cx="2488367" cy="37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B9A1B6F-0E4F-4FA5-9463-4E0BEA28E9FF}"/>
              </a:ext>
            </a:extLst>
          </p:cNvPr>
          <p:cNvSpPr txBox="1"/>
          <p:nvPr/>
        </p:nvSpPr>
        <p:spPr>
          <a:xfrm>
            <a:off x="2094025" y="6263497"/>
            <a:ext cx="2488367" cy="37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0" dirty="0">
                <a:solidFill>
                  <a:srgbClr val="000000"/>
                </a:solidFill>
                <a:effectLst/>
                <a:latin typeface="Lato" panose="020F0502020204030203" pitchFamily="34" charset="0"/>
              </a:rPr>
              <a:t>BYPASS MODE</a:t>
            </a:r>
            <a:endParaRPr lang="en-US" dirty="0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F0159453-7107-4B2A-AE26-F9F97DC56D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3134" y="1023892"/>
            <a:ext cx="5271877" cy="4810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BC02FC4-F0DE-453B-9583-B15E888327D3}"/>
              </a:ext>
            </a:extLst>
          </p:cNvPr>
          <p:cNvSpPr txBox="1"/>
          <p:nvPr/>
        </p:nvSpPr>
        <p:spPr>
          <a:xfrm>
            <a:off x="8144656" y="6247311"/>
            <a:ext cx="24883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0" dirty="0">
                <a:solidFill>
                  <a:srgbClr val="000000"/>
                </a:solidFill>
                <a:effectLst/>
                <a:latin typeface="Lato" panose="020F0502020204030203" pitchFamily="34" charset="0"/>
              </a:rPr>
              <a:t>EXTEST MODE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92875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E54CC-2322-43AE-BCF3-D0D65E26F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level testing</a:t>
            </a:r>
          </a:p>
        </p:txBody>
      </p:sp>
      <p:pic>
        <p:nvPicPr>
          <p:cNvPr id="5" name="Content Placeholder 4" descr="Diagram&#10;&#10;Description automatically generated">
            <a:extLst>
              <a:ext uri="{FF2B5EF4-FFF2-40B4-BE49-F238E27FC236}">
                <a16:creationId xmlns:a16="http://schemas.microsoft.com/office/drawing/2014/main" id="{329BF9A5-4B29-4DF4-9F8C-A05C24D610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144232"/>
            <a:ext cx="6705600" cy="4133850"/>
          </a:xfrm>
        </p:spPr>
      </p:pic>
    </p:spTree>
    <p:extLst>
      <p:ext uri="{BB962C8B-B14F-4D97-AF65-F5344CB8AC3E}">
        <p14:creationId xmlns:p14="http://schemas.microsoft.com/office/powerpoint/2010/main" val="19737848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3F3DA-A647-4CEB-B0AA-4CE11C9B86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 err="1"/>
              <a:t>Jtag</a:t>
            </a:r>
            <a:r>
              <a:rPr lang="en-US" dirty="0"/>
              <a:t> Architecture </a:t>
            </a:r>
          </a:p>
        </p:txBody>
      </p:sp>
      <p:pic>
        <p:nvPicPr>
          <p:cNvPr id="2051" name="Picture 3" descr="JTAG minimal architecture">
            <a:extLst>
              <a:ext uri="{FF2B5EF4-FFF2-40B4-BE49-F238E27FC236}">
                <a16:creationId xmlns:a16="http://schemas.microsoft.com/office/drawing/2014/main" id="{7D5D2F6C-26A6-41E2-8233-21B0669DE47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830740" y="1652005"/>
            <a:ext cx="6980755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4593759-DC08-4E77-93F4-BD3B3B2F85E3}"/>
              </a:ext>
            </a:extLst>
          </p:cNvPr>
          <p:cNvSpPr txBox="1"/>
          <p:nvPr/>
        </p:nvSpPr>
        <p:spPr>
          <a:xfrm>
            <a:off x="5252555" y="1546407"/>
            <a:ext cx="667750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Test Access Port</a:t>
            </a:r>
            <a:r>
              <a:rPr lang="en-US" dirty="0"/>
              <a:t>: TDI,TDO,TMS,TCK</a:t>
            </a:r>
          </a:p>
          <a:p>
            <a:endParaRPr lang="en-US" dirty="0"/>
          </a:p>
          <a:p>
            <a:r>
              <a:rPr lang="en-US" b="1" dirty="0"/>
              <a:t>TAP controller: </a:t>
            </a:r>
            <a:r>
              <a:rPr lang="en-US" dirty="0"/>
              <a:t>sixteen</a:t>
            </a:r>
            <a:r>
              <a:rPr lang="en-US" b="1" dirty="0"/>
              <a:t>-</a:t>
            </a:r>
            <a:r>
              <a:rPr lang="en-US" dirty="0"/>
              <a:t>state machine</a:t>
            </a:r>
          </a:p>
          <a:p>
            <a:endParaRPr lang="en-US" dirty="0"/>
          </a:p>
          <a:p>
            <a:r>
              <a:rPr lang="en-US" b="1" dirty="0"/>
              <a:t>Register</a:t>
            </a:r>
            <a:r>
              <a:rPr lang="en-US" dirty="0"/>
              <a:t>: Bypass register, Boundary scan register ,instruction register</a:t>
            </a:r>
          </a:p>
          <a:p>
            <a:endParaRPr lang="en-US" dirty="0"/>
          </a:p>
          <a:p>
            <a:r>
              <a:rPr lang="en-US" b="1" dirty="0"/>
              <a:t>Instruction decoder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65013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4D9B9-DBE2-4B3D-A8C6-6A5CD3F0C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2450" y="107950"/>
            <a:ext cx="10515600" cy="1325563"/>
          </a:xfrm>
        </p:spPr>
        <p:txBody>
          <a:bodyPr/>
          <a:lstStyle/>
          <a:p>
            <a:r>
              <a:rPr lang="en-US" dirty="0"/>
              <a:t>Register (</a:t>
            </a:r>
            <a:r>
              <a:rPr lang="en-US" dirty="0">
                <a:hlinkClick r:id="rId3"/>
              </a:rPr>
              <a:t>online reference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B18911-2AC2-4890-807D-31E3203C5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556" y="1282610"/>
            <a:ext cx="11672887" cy="4924425"/>
          </a:xfrm>
        </p:spPr>
        <p:txBody>
          <a:bodyPr>
            <a:normAutofit lnSpcReduction="10000"/>
          </a:bodyPr>
          <a:lstStyle/>
          <a:p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Flip-flop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is a 1 bit memory cell which can be used for 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storing the digital data.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A group of flip-flop is known as a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Register</a:t>
            </a:r>
          </a:p>
          <a:p>
            <a:endParaRPr lang="en-US" b="1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endParaRPr lang="en-US" b="1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endParaRPr lang="en-US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endParaRPr lang="en-US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endParaRPr lang="en-US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endParaRPr lang="en-US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 binary data in a register can be moved within the register from one flip-flop to another. The registers that allow such data transfers are called as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shift registers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  <a:endParaRPr lang="en-US" dirty="0"/>
          </a:p>
        </p:txBody>
      </p:sp>
      <p:pic>
        <p:nvPicPr>
          <p:cNvPr id="5" name="Picture 4" descr="Table&#10;&#10;Description automatically generated">
            <a:extLst>
              <a:ext uri="{FF2B5EF4-FFF2-40B4-BE49-F238E27FC236}">
                <a16:creationId xmlns:a16="http://schemas.microsoft.com/office/drawing/2014/main" id="{AE46E234-C7AE-44C2-8944-8B725AFE04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6749" y="2013954"/>
            <a:ext cx="3670301" cy="2525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55210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59D3C2-116D-433D-AD56-2601E17BCE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Cont</a:t>
            </a:r>
            <a:r>
              <a:rPr lang="en-US" dirty="0"/>
              <a:t>’</a:t>
            </a:r>
          </a:p>
        </p:txBody>
      </p:sp>
      <p:pic>
        <p:nvPicPr>
          <p:cNvPr id="5" name="Content Placeholder 4" descr="Diagram, text&#10;&#10;Description automatically generated">
            <a:extLst>
              <a:ext uri="{FF2B5EF4-FFF2-40B4-BE49-F238E27FC236}">
                <a16:creationId xmlns:a16="http://schemas.microsoft.com/office/drawing/2014/main" id="{5872D7C3-C528-4D49-BB71-B8498ACF3D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80988" y="1858169"/>
            <a:ext cx="6466874" cy="4177506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0D4C54E-3D44-4480-B330-D1428763316E}"/>
              </a:ext>
            </a:extLst>
          </p:cNvPr>
          <p:cNvSpPr txBox="1"/>
          <p:nvPr/>
        </p:nvSpPr>
        <p:spPr>
          <a:xfrm>
            <a:off x="6747862" y="2357438"/>
            <a:ext cx="516315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Data register</a:t>
            </a:r>
            <a:r>
              <a:rPr lang="en-US" dirty="0"/>
              <a:t>: </a:t>
            </a:r>
          </a:p>
          <a:p>
            <a:r>
              <a:rPr lang="en-US" dirty="0"/>
              <a:t>	- Bypass register ( when </a:t>
            </a:r>
            <a:r>
              <a:rPr lang="en-US" b="1" dirty="0" err="1"/>
              <a:t>ShiftDR</a:t>
            </a:r>
            <a:r>
              <a:rPr lang="en-US" b="1" dirty="0"/>
              <a:t>=1, </a:t>
            </a:r>
            <a:r>
              <a:rPr lang="en-US" dirty="0"/>
              <a:t>shift 			data from TDI to TDO</a:t>
            </a:r>
            <a:r>
              <a:rPr lang="en-US" b="1" dirty="0"/>
              <a:t>)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- Boundary scan register</a:t>
            </a:r>
          </a:p>
          <a:p>
            <a:endParaRPr lang="en-US" dirty="0"/>
          </a:p>
          <a:p>
            <a:r>
              <a:rPr lang="en-US" b="1" dirty="0"/>
              <a:t>Instruction Register</a:t>
            </a:r>
          </a:p>
          <a:p>
            <a:endParaRPr lang="en-US" b="1" dirty="0"/>
          </a:p>
          <a:p>
            <a:r>
              <a:rPr lang="en-US" b="1" dirty="0"/>
              <a:t>Boundary scan register</a:t>
            </a:r>
          </a:p>
          <a:p>
            <a:endParaRPr lang="en-US" dirty="0"/>
          </a:p>
          <a:p>
            <a:r>
              <a:rPr lang="en-US" dirty="0"/>
              <a:t>	- </a:t>
            </a:r>
          </a:p>
        </p:txBody>
      </p:sp>
    </p:spTree>
    <p:extLst>
      <p:ext uri="{BB962C8B-B14F-4D97-AF65-F5344CB8AC3E}">
        <p14:creationId xmlns:p14="http://schemas.microsoft.com/office/powerpoint/2010/main" val="339102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5E035-035A-4A1A-912D-76254B2CD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Boundary scan register</a:t>
            </a:r>
          </a:p>
        </p:txBody>
      </p:sp>
      <p:pic>
        <p:nvPicPr>
          <p:cNvPr id="7" name="Content Placeholder 6" descr="Diagram, schematic&#10;&#10;Description automatically generated">
            <a:extLst>
              <a:ext uri="{FF2B5EF4-FFF2-40B4-BE49-F238E27FC236}">
                <a16:creationId xmlns:a16="http://schemas.microsoft.com/office/drawing/2014/main" id="{AE254040-2DC5-4C8B-8DD5-FF10228986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66725" y="1690688"/>
            <a:ext cx="6219825" cy="48631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851320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Diagram, schematic&#10;&#10;Description automatically generated">
            <a:extLst>
              <a:ext uri="{FF2B5EF4-FFF2-40B4-BE49-F238E27FC236}">
                <a16:creationId xmlns:a16="http://schemas.microsoft.com/office/drawing/2014/main" id="{F3D86844-D989-41CE-BE77-D4E28C537B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80290" y="1253331"/>
            <a:ext cx="6316719" cy="4351338"/>
          </a:xfrm>
        </p:spPr>
      </p:pic>
    </p:spTree>
    <p:extLst>
      <p:ext uri="{BB962C8B-B14F-4D97-AF65-F5344CB8AC3E}">
        <p14:creationId xmlns:p14="http://schemas.microsoft.com/office/powerpoint/2010/main" val="21023114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83DEE-7BD5-4767-9446-F792D1EB2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264" y="18255"/>
            <a:ext cx="10396536" cy="792957"/>
          </a:xfrm>
        </p:spPr>
        <p:txBody>
          <a:bodyPr/>
          <a:lstStyle/>
          <a:p>
            <a:r>
              <a:rPr lang="en-US" dirty="0"/>
              <a:t>Instruction register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B0235-4500-46C9-AEC4-F31F52D4B0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1212"/>
            <a:ext cx="10515600" cy="4351338"/>
          </a:xfrm>
        </p:spPr>
        <p:txBody>
          <a:bodyPr/>
          <a:lstStyle/>
          <a:p>
            <a:r>
              <a:rPr lang="en-US" dirty="0"/>
              <a:t>Help to shift in the instruction (EYTEST,BYPASS) via TDI</a:t>
            </a:r>
          </a:p>
          <a:p>
            <a:r>
              <a:rPr lang="en-US" dirty="0"/>
              <a:t>In “shift IR” state, shift in instruction</a:t>
            </a:r>
          </a:p>
          <a:p>
            <a:r>
              <a:rPr lang="en-US" dirty="0"/>
              <a:t>These instruction will be translated by instruction decoder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 descr="Graphical user interface&#10;&#10;Description automatically generated">
            <a:extLst>
              <a:ext uri="{FF2B5EF4-FFF2-40B4-BE49-F238E27FC236}">
                <a16:creationId xmlns:a16="http://schemas.microsoft.com/office/drawing/2014/main" id="{644B3258-0814-44DD-B264-AFED8DA9D3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4224" y="2506662"/>
            <a:ext cx="6751799" cy="4351338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BB19078-2980-4BE1-974C-82EBFB8D79F7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3880726" y="4682331"/>
            <a:ext cx="1363498" cy="118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D73FD62-BCF1-467B-AE10-B7C7530713C8}"/>
              </a:ext>
            </a:extLst>
          </p:cNvPr>
          <p:cNvSpPr txBox="1"/>
          <p:nvPr/>
        </p:nvSpPr>
        <p:spPr>
          <a:xfrm>
            <a:off x="176215" y="4329113"/>
            <a:ext cx="440602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Load instruction via TDI(need to tell what kind of test I want to do first)</a:t>
            </a:r>
          </a:p>
          <a:p>
            <a:pPr marL="342900" indent="-342900">
              <a:buAutoNum type="arabicParenR"/>
            </a:pPr>
            <a:r>
              <a:rPr lang="en-US" dirty="0"/>
              <a:t>EXTEST:000….</a:t>
            </a:r>
          </a:p>
          <a:p>
            <a:pPr marL="342900" indent="-342900">
              <a:buAutoNum type="arabicParenR"/>
            </a:pPr>
            <a:r>
              <a:rPr lang="en-US" dirty="0"/>
              <a:t>BYPASS:111….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09019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471D3-67AA-4EDE-BA58-40264F443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EXTEST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FCEEB61-B00A-492B-B6B0-8240F7965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42605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89A86-978C-4BB9-86C2-81C181EC2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Cont</a:t>
            </a:r>
            <a:r>
              <a:rPr lang="en-US" dirty="0"/>
              <a:t>’..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B989911-1E33-4FDB-A746-69DF5735A3FC}"/>
              </a:ext>
            </a:extLst>
          </p:cNvPr>
          <p:cNvCxnSpPr>
            <a:cxnSpLocks/>
          </p:cNvCxnSpPr>
          <p:nvPr/>
        </p:nvCxnSpPr>
        <p:spPr>
          <a:xfrm>
            <a:off x="6096000" y="4019547"/>
            <a:ext cx="990600" cy="0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9" name="Content Placeholder 18" descr="Diagram, schematic&#10;&#10;Description automatically generated">
            <a:extLst>
              <a:ext uri="{FF2B5EF4-FFF2-40B4-BE49-F238E27FC236}">
                <a16:creationId xmlns:a16="http://schemas.microsoft.com/office/drawing/2014/main" id="{FFA123B7-5E3F-4690-9CF3-80E62FDFFD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42875" y="1962151"/>
            <a:ext cx="6091365" cy="3967159"/>
          </a:xfrm>
        </p:spPr>
      </p:pic>
      <p:pic>
        <p:nvPicPr>
          <p:cNvPr id="24" name="Picture 23" descr="Diagram&#10;&#10;Description automatically generated">
            <a:extLst>
              <a:ext uri="{FF2B5EF4-FFF2-40B4-BE49-F238E27FC236}">
                <a16:creationId xmlns:a16="http://schemas.microsoft.com/office/drawing/2014/main" id="{7C7DA779-E68B-4995-99BE-F5F0B47D64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4440" y="2252660"/>
            <a:ext cx="3343275" cy="3676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12069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1CAE7-CDC4-410C-80E1-49B69469D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 err="1"/>
              <a:t>Con’t</a:t>
            </a:r>
            <a:r>
              <a:rPr lang="en-US" dirty="0"/>
              <a:t>..</a:t>
            </a:r>
          </a:p>
        </p:txBody>
      </p:sp>
      <p:pic>
        <p:nvPicPr>
          <p:cNvPr id="9" name="Content Placeholder 8" descr="Diagram, schematic&#10;&#10;Description automatically generated">
            <a:extLst>
              <a:ext uri="{FF2B5EF4-FFF2-40B4-BE49-F238E27FC236}">
                <a16:creationId xmlns:a16="http://schemas.microsoft.com/office/drawing/2014/main" id="{5410CA16-FC69-4169-8F8E-D46BDF54AD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623006" y="1707501"/>
            <a:ext cx="5568994" cy="3719513"/>
          </a:xfrm>
        </p:spPr>
      </p:pic>
      <p:pic>
        <p:nvPicPr>
          <p:cNvPr id="11" name="Picture 10" descr="Diagram, schematic&#10;&#10;Description automatically generated">
            <a:extLst>
              <a:ext uri="{FF2B5EF4-FFF2-40B4-BE49-F238E27FC236}">
                <a16:creationId xmlns:a16="http://schemas.microsoft.com/office/drawing/2014/main" id="{1BC75292-69E6-4F9A-83E2-239A923875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" y="1622665"/>
            <a:ext cx="5603325" cy="3612670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2653574-8D92-4C37-9AD8-5C514F4B2B5A}"/>
              </a:ext>
            </a:extLst>
          </p:cNvPr>
          <p:cNvCxnSpPr>
            <a:cxnSpLocks/>
          </p:cNvCxnSpPr>
          <p:nvPr/>
        </p:nvCxnSpPr>
        <p:spPr>
          <a:xfrm>
            <a:off x="5639736" y="3563744"/>
            <a:ext cx="912528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72950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1B556-9676-4B0F-B0CC-28B62F509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572" y="32368"/>
            <a:ext cx="10515600" cy="1325563"/>
          </a:xfrm>
        </p:spPr>
        <p:txBody>
          <a:bodyPr/>
          <a:lstStyle/>
          <a:p>
            <a:r>
              <a:rPr lang="en-US" dirty="0"/>
              <a:t>Sample/preload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6977E-F6CF-4F2D-B404-B4F50FB76B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5646" y="1148730"/>
            <a:ext cx="10925299" cy="2280269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The SAMPLE/PRELOAD instruction is used to take a snapshot of the device as it is in normal functional operation</a:t>
            </a:r>
          </a:p>
          <a:p>
            <a:r>
              <a:rPr lang="en-US" dirty="0"/>
              <a:t>This instruction does not interfere with the normal operation of the device. The SAMPLE part of this instruction occurs during Capture-DR. The DRs are loaded with the state of the pins on the rising edge of TCK while in Capture-DR. The DR can then be shifted out TDO for examination. The PRELOAD part of this instruction is simply loading the DRs during Shift-DR. It is typically used before the EXTEST instruction to define the initial state of the pins.</a:t>
            </a:r>
          </a:p>
          <a:p>
            <a:endParaRPr lang="en-US" dirty="0"/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73DF2F58-2455-4932-B79E-0DFDCACE9A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0542" y="3428999"/>
            <a:ext cx="2886507" cy="3313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3719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A2781-BFB9-4C5C-B405-E0F2727DF6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Content Placeholder 4" descr="Text, letter&#10;&#10;Description automatically generated">
            <a:extLst>
              <a:ext uri="{FF2B5EF4-FFF2-40B4-BE49-F238E27FC236}">
                <a16:creationId xmlns:a16="http://schemas.microsoft.com/office/drawing/2014/main" id="{C0F9F5AC-7FF8-4B9F-BCC5-4AF7AAED14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5108" y="1825625"/>
            <a:ext cx="5801784" cy="4351338"/>
          </a:xfrm>
        </p:spPr>
      </p:pic>
    </p:spTree>
    <p:extLst>
      <p:ext uri="{BB962C8B-B14F-4D97-AF65-F5344CB8AC3E}">
        <p14:creationId xmlns:p14="http://schemas.microsoft.com/office/powerpoint/2010/main" val="14342895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1568</TotalTime>
  <Words>563</Words>
  <Application>Microsoft Office PowerPoint</Application>
  <PresentationFormat>Widescreen</PresentationFormat>
  <Paragraphs>86</Paragraphs>
  <Slides>17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Lato</vt:lpstr>
      <vt:lpstr>Office Theme</vt:lpstr>
      <vt:lpstr>Jtag </vt:lpstr>
      <vt:lpstr>What is Jtag</vt:lpstr>
      <vt:lpstr>Cont’</vt:lpstr>
      <vt:lpstr>Chip level testing</vt:lpstr>
      <vt:lpstr>Chip to chip interconnect testing (online reference)</vt:lpstr>
      <vt:lpstr>Board level testing</vt:lpstr>
      <vt:lpstr>Jtag Architecture </vt:lpstr>
      <vt:lpstr>Register (online reference)</vt:lpstr>
      <vt:lpstr>Cont’</vt:lpstr>
      <vt:lpstr>Boundary scan register</vt:lpstr>
      <vt:lpstr>PowerPoint Presentation</vt:lpstr>
      <vt:lpstr>Instruction register</vt:lpstr>
      <vt:lpstr>EXTEST </vt:lpstr>
      <vt:lpstr>Cont’..</vt:lpstr>
      <vt:lpstr>Con’t..</vt:lpstr>
      <vt:lpstr>Sample/preload 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Jtag </dc:title>
  <dc:creator>Liu, Xu</dc:creator>
  <cp:lastModifiedBy>Liu, Xu</cp:lastModifiedBy>
  <cp:revision>92</cp:revision>
  <dcterms:created xsi:type="dcterms:W3CDTF">2021-08-28T02:25:08Z</dcterms:created>
  <dcterms:modified xsi:type="dcterms:W3CDTF">2021-08-30T10:45:54Z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8914ebd-7e6c-4e12-a031-a9906be2db14_Enabled">
    <vt:lpwstr>true</vt:lpwstr>
  </property>
  <property fmtid="{D5CDD505-2E9C-101B-9397-08002B2CF9AE}" pid="3" name="MSIP_Label_88914ebd-7e6c-4e12-a031-a9906be2db14_SetDate">
    <vt:lpwstr>2021-08-30T10:45:54Z</vt:lpwstr>
  </property>
  <property fmtid="{D5CDD505-2E9C-101B-9397-08002B2CF9AE}" pid="4" name="MSIP_Label_88914ebd-7e6c-4e12-a031-a9906be2db14_Method">
    <vt:lpwstr>Standard</vt:lpwstr>
  </property>
  <property fmtid="{D5CDD505-2E9C-101B-9397-08002B2CF9AE}" pid="5" name="MSIP_Label_88914ebd-7e6c-4e12-a031-a9906be2db14_Name">
    <vt:lpwstr>AMD Official Use Only-AIP 2.0</vt:lpwstr>
  </property>
  <property fmtid="{D5CDD505-2E9C-101B-9397-08002B2CF9AE}" pid="6" name="MSIP_Label_88914ebd-7e6c-4e12-a031-a9906be2db14_SiteId">
    <vt:lpwstr>3dd8961f-e488-4e60-8e11-a82d994e183d</vt:lpwstr>
  </property>
  <property fmtid="{D5CDD505-2E9C-101B-9397-08002B2CF9AE}" pid="7" name="MSIP_Label_88914ebd-7e6c-4e12-a031-a9906be2db14_ActionId">
    <vt:lpwstr>8a813411-7b1c-4b0e-ac4c-9e4b5ac495d9</vt:lpwstr>
  </property>
  <property fmtid="{D5CDD505-2E9C-101B-9397-08002B2CF9AE}" pid="8" name="MSIP_Label_88914ebd-7e6c-4e12-a031-a9906be2db14_ContentBits">
    <vt:lpwstr>1</vt:lpwstr>
  </property>
</Properties>
</file>
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1" r:id="rId14"/>
    <p:sldId id="266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86311" autoAdjust="0"/>
  </p:normalViewPr>
  <p:slideViewPr>
    <p:cSldViewPr snapToGrid="0">
      <p:cViewPr varScale="1">
        <p:scale>
          <a:sx n="54" d="100"/>
          <a:sy n="54" d="100"/>
        </p:scale>
        <p:origin x="11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F53C8-D2FC-4107-90E8-0545E169AF3E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7B91E-C5F9-4AA5-8690-E6B78A99A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9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53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1 (output) connects to Unit 2 (input)</a:t>
            </a:r>
          </a:p>
          <a:p>
            <a:endParaRPr lang="en-US" dirty="0"/>
          </a:p>
          <a:p>
            <a:r>
              <a:rPr lang="en-US" dirty="0"/>
              <a:t>“BYPASS MODE”: bypass register is activated, and boundary scan register is transparent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“EXTEST MODE” : Boundary register is activated. Check which input pins 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open,short</a:t>
            </a: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..) have problem via inputting different bits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16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TDI: Shift in bits (positive TCK edge) when the state is shift IR </a:t>
            </a:r>
          </a:p>
          <a:p>
            <a:r>
              <a:rPr lang="en-US" dirty="0"/>
              <a:t>TDO: Shift out bits via TDO (negative TCK edge) when the state is shift IR</a:t>
            </a:r>
          </a:p>
          <a:p>
            <a:r>
              <a:rPr lang="en-US" dirty="0"/>
              <a:t>TMS; Change state (positive TCK edge)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38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link :https://www.tutorialspoint.com/computer_logical_organization/digital_registers.htm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48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84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: load pattern</a:t>
            </a:r>
          </a:p>
          <a:p>
            <a:r>
              <a:rPr lang="en-US" dirty="0"/>
              <a:t>Update: Apply pattern</a:t>
            </a:r>
          </a:p>
          <a:p>
            <a:r>
              <a:rPr lang="en-US" dirty="0"/>
              <a:t>Capture: Capture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93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https://www.youtube.com/watch?v=PqGhRrgLyaU</a:t>
            </a:r>
          </a:p>
          <a:p>
            <a:r>
              <a:rPr lang="en-US" dirty="0"/>
              <a:t>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55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1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7B91E-C5F9-4AA5-8690-E6B78A99A9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5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7D13-73CD-47C0-A35F-C15AC2A73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2448D-9682-4061-8CEB-956CE8119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63E1D-FB4A-4347-8345-4411EEC1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773EC-AB4E-4388-B734-A0875750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CB526-6833-4B10-9CDF-CA613347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7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D506-7A71-4D0C-AD87-63B2A455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5717F-96EF-4183-B6E3-ED1AD19F7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643D-9303-4A5C-B221-36FB7B21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A52AF-C1BF-48E2-BB4E-F1746BFC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CF103-4C08-449F-9A3B-BD0EA372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5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AD7C-C2E4-48A8-850B-2C0A483D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B771A-131E-4F54-8959-A845B1767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300A3-F849-4458-9987-1D8BB1AD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B82CB-EE3D-44F6-8E52-F1B2A6B0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FFEF7-CACE-47B4-B0EB-C5C0AF18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2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7E85-0881-458B-9ECD-CDA7BF77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7A04-D322-4646-B72C-F123E0746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56C96-4CDD-4FA5-8172-AD48F78B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2E712-8871-4E8F-9970-602BE322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0ED6E-8CE4-4605-B2B8-E776A2A5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3DB90-0894-4B6B-BE02-D01B8404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3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9CCA-69A2-4101-8E42-41377383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E751B-8683-43B7-BB0F-96FD0F1CC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48106-7983-4FC2-9643-FA40D29D5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0766B-40CB-4728-A791-C34C114C8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72262-06C5-42C2-9840-A47B1C77C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E9536-ABED-41ED-AFB8-B876605E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D200F-28CA-4DC8-9772-69FE670A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5E8F6-632E-4DE1-A799-E5C61D74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0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3300-05D6-495B-B716-27A57238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BEDE2-4C38-481B-8059-2D0C2DCE6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066F5-8D95-4B39-964F-B6D6E5F3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577ED-0AC0-4106-90E4-6ACC173E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7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33DDB-D5A3-4EC9-88A1-03EF32DD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AF71E-B74F-4011-98CF-A88FFFE5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91654-93FA-4DFB-A323-E590D51A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2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9982-C9F5-4000-AD64-55C96281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DA95D-0791-4D65-8448-F63C00D6F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A3C27-E9EF-4427-994F-C008B2D15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54B47-572D-4198-9774-FEEADBC6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41E54-A773-46C1-AD68-53F653BB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50F4E-52A7-46CB-9579-352DAA5C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1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F7BB-553A-4635-8C9F-EB0CAEEB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67372-24E5-4C16-9F47-D074DC743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82FD-EDAC-417E-B401-1BFD405B7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1B92A-2ACA-4CC9-84CC-C5AFD201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B654A-BAE2-459C-81A3-FC6F8F9D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FE5EB-C0D9-4E16-B3EA-C14F6BAA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C76F-2795-48F7-B37D-6C27C211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CF0EF-37B2-40B1-BF52-E1F595866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C72B7-EEFD-4BE9-9BFA-34B51DEE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CC89-0B28-43EB-85D0-AF4F2CC1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8C1B9-B075-4BAE-9BE1-2B8AC6C1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6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FF1716-D912-492C-881E-E2BD76FCF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4F8F9-D7F2-4F3A-8D09-56F5355E7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F957B-D9FA-4609-968B-384070D9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72C61-E7FA-4C54-B81A-29A00AC7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5D8A0-1AFA-43A8-96E3-05839B67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0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618BE-CC54-4FF2-8BA2-E5CD99AF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6CA3A-1C94-4CC5-953C-E4C75D89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7F636-922D-42FB-8F80-F7181CF21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350B-6E31-4D87-B3C4-5B316FC4362F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5F15-DDA6-4D5A-AE3E-295AADFE3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81CF-03FF-4175-9EFB-D5D484976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0760B-B5A4-43CD-BEF8-D87BBC99E6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DD0FD271-6825-4D87-96B7-DEBC0BABF642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41501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ecoserv.online/jtag-boundary-sca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logical_organization/digital_registers.ht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022D-7E87-4322-A59A-4D6C5D84A6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Jtag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156B5-ED97-4C22-B27F-10A060D9D6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3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D9D5-3D6A-4B3D-ACA1-C3E772B2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Jtag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42A2-11C3-47A2-B89A-34A2E9F0E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7" y="1553378"/>
            <a:ext cx="11592453" cy="502730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Joint Test Action Group (IEEE 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standard</a:t>
            </a:r>
            <a:r>
              <a:rPr lang="en-US" b="0" i="0" dirty="0">
                <a:effectLst/>
                <a:latin typeface="Arial" panose="020B0604020202020204" pitchFamily="34" charset="0"/>
              </a:rPr>
              <a:t>. Design rules which helps chip, chip interconnects, board level testing) also called boundary scan test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“Bed-of-nails” method to test chip outdated (pins getting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smaller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Simple </a:t>
            </a:r>
            <a:r>
              <a:rPr lang="en-US" dirty="0" err="1">
                <a:latin typeface="Arial" panose="020B0604020202020204" pitchFamily="34" charset="0"/>
              </a:rPr>
              <a:t>Jtag</a:t>
            </a:r>
            <a:r>
              <a:rPr lang="en-US" dirty="0">
                <a:latin typeface="Arial" panose="020B0604020202020204" pitchFamily="34" charset="0"/>
              </a:rPr>
              <a:t>(with simple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4 pins TDI,TDO,TCK,TMS</a:t>
            </a:r>
            <a:r>
              <a:rPr lang="en-US" dirty="0">
                <a:latin typeface="Arial" panose="020B0604020202020204" pitchFamily="34" charset="0"/>
              </a:rPr>
              <a:t>) can complete complex testing task which traditionally needs “bed-of-nail” technique.</a:t>
            </a:r>
          </a:p>
          <a:p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0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F0B2-1BE3-4DD9-A85B-39A597A1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’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35ED5C0-DC70-4CC3-90FF-9B7CE99DC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7951"/>
            <a:ext cx="10515600" cy="3666686"/>
          </a:xfrm>
        </p:spPr>
      </p:pic>
    </p:spTree>
    <p:extLst>
      <p:ext uri="{BB962C8B-B14F-4D97-AF65-F5344CB8AC3E}">
        <p14:creationId xmlns:p14="http://schemas.microsoft.com/office/powerpoint/2010/main" val="132584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75E9-900F-41CA-B40B-D2D3126F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 level testing</a:t>
            </a:r>
          </a:p>
        </p:txBody>
      </p:sp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9C17B14E-CBA0-4768-B60C-D03E76BC4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7935" y="1690688"/>
            <a:ext cx="3619111" cy="347221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107E1C-7D44-4D32-B506-05B3FF4B4ACF}"/>
              </a:ext>
            </a:extLst>
          </p:cNvPr>
          <p:cNvSpPr txBox="1"/>
          <p:nvPr/>
        </p:nvSpPr>
        <p:spPr>
          <a:xfrm>
            <a:off x="163643" y="1870570"/>
            <a:ext cx="298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 in data to the core logic and observer output</a:t>
            </a:r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D09B5E65-5F5A-45D2-B3DE-78A4A257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89" y="5222194"/>
            <a:ext cx="79057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8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7AAE7-9866-4A56-89F1-B3A827A2B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565" y="-102212"/>
            <a:ext cx="10515600" cy="1325563"/>
          </a:xfrm>
        </p:spPr>
        <p:txBody>
          <a:bodyPr/>
          <a:lstStyle/>
          <a:p>
            <a:r>
              <a:rPr lang="en-US" dirty="0"/>
              <a:t>Chip to chip interconnect testing (</a:t>
            </a:r>
            <a:r>
              <a:rPr lang="en-US" dirty="0">
                <a:hlinkClick r:id="rId3"/>
              </a:rPr>
              <a:t>online reference</a:t>
            </a:r>
            <a:r>
              <a:rPr lang="en-US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262FA6-F5AF-4357-BB1C-BAB30E28C2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715" y="1132631"/>
            <a:ext cx="5243723" cy="4785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A0B130-76B8-4346-A92B-4314B9CAF48E}"/>
              </a:ext>
            </a:extLst>
          </p:cNvPr>
          <p:cNvCxnSpPr>
            <a:cxnSpLocks/>
          </p:cNvCxnSpPr>
          <p:nvPr/>
        </p:nvCxnSpPr>
        <p:spPr>
          <a:xfrm>
            <a:off x="5167008" y="3072984"/>
            <a:ext cx="133428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09A28E-4F48-40BB-BE75-F48E91C58D8A}"/>
              </a:ext>
            </a:extLst>
          </p:cNvPr>
          <p:cNvSpPr txBox="1"/>
          <p:nvPr/>
        </p:nvSpPr>
        <p:spPr>
          <a:xfrm>
            <a:off x="1558977" y="6100997"/>
            <a:ext cx="2488367" cy="3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A1B6F-0E4F-4FA5-9463-4E0BEA28E9FF}"/>
              </a:ext>
            </a:extLst>
          </p:cNvPr>
          <p:cNvSpPr txBox="1"/>
          <p:nvPr/>
        </p:nvSpPr>
        <p:spPr>
          <a:xfrm>
            <a:off x="2094025" y="6263497"/>
            <a:ext cx="2488367" cy="3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BYPASS MODE</a:t>
            </a:r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0159453-7107-4B2A-AE26-F9F97DC56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134" y="1023892"/>
            <a:ext cx="5271877" cy="481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C02FC4-F0DE-453B-9583-B15E888327D3}"/>
              </a:ext>
            </a:extLst>
          </p:cNvPr>
          <p:cNvSpPr txBox="1"/>
          <p:nvPr/>
        </p:nvSpPr>
        <p:spPr>
          <a:xfrm>
            <a:off x="8144656" y="6247311"/>
            <a:ext cx="248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EXTEST MODE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28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54CC-2322-43AE-BCF3-D0D65E26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level testing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29BF9A5-4B29-4DF4-9F8C-A05C24D61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4232"/>
            <a:ext cx="6705600" cy="4133850"/>
          </a:xfrm>
        </p:spPr>
      </p:pic>
    </p:spTree>
    <p:extLst>
      <p:ext uri="{BB962C8B-B14F-4D97-AF65-F5344CB8AC3E}">
        <p14:creationId xmlns:p14="http://schemas.microsoft.com/office/powerpoint/2010/main" val="197378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F3DA-A647-4CEB-B0AA-4CE11C9B8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Jtag</a:t>
            </a:r>
            <a:r>
              <a:rPr lang="en-US" dirty="0"/>
              <a:t> Architecture </a:t>
            </a:r>
          </a:p>
        </p:txBody>
      </p:sp>
      <p:pic>
        <p:nvPicPr>
          <p:cNvPr id="2051" name="Picture 3" descr="JTAG minimal architecture">
            <a:extLst>
              <a:ext uri="{FF2B5EF4-FFF2-40B4-BE49-F238E27FC236}">
                <a16:creationId xmlns:a16="http://schemas.microsoft.com/office/drawing/2014/main" id="{7D5D2F6C-26A6-41E2-8233-21B0669DE4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0740" y="1652005"/>
            <a:ext cx="698075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593759-DC08-4E77-93F4-BD3B3B2F85E3}"/>
              </a:ext>
            </a:extLst>
          </p:cNvPr>
          <p:cNvSpPr txBox="1"/>
          <p:nvPr/>
        </p:nvSpPr>
        <p:spPr>
          <a:xfrm>
            <a:off x="5252555" y="1546407"/>
            <a:ext cx="66775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Access Port</a:t>
            </a:r>
            <a:r>
              <a:rPr lang="en-US" dirty="0"/>
              <a:t>: TDI,TDO,TMS,TCK</a:t>
            </a:r>
          </a:p>
          <a:p>
            <a:endParaRPr lang="en-US" dirty="0"/>
          </a:p>
          <a:p>
            <a:r>
              <a:rPr lang="en-US" b="1" dirty="0"/>
              <a:t>TAP controller: </a:t>
            </a:r>
            <a:r>
              <a:rPr lang="en-US" dirty="0"/>
              <a:t>sixteen</a:t>
            </a:r>
            <a:r>
              <a:rPr lang="en-US" b="1" dirty="0"/>
              <a:t>-</a:t>
            </a:r>
            <a:r>
              <a:rPr lang="en-US" dirty="0"/>
              <a:t>state machine</a:t>
            </a:r>
          </a:p>
          <a:p>
            <a:endParaRPr lang="en-US" dirty="0"/>
          </a:p>
          <a:p>
            <a:r>
              <a:rPr lang="en-US" b="1" dirty="0"/>
              <a:t>Register</a:t>
            </a:r>
            <a:r>
              <a:rPr lang="en-US" dirty="0"/>
              <a:t>: Bypass register, Boundary scan register ,instruction register</a:t>
            </a:r>
          </a:p>
          <a:p>
            <a:endParaRPr lang="en-US" dirty="0"/>
          </a:p>
          <a:p>
            <a:r>
              <a:rPr lang="en-US" b="1" dirty="0"/>
              <a:t>Instruction decoder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50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4D9B9-DBE2-4B3D-A8C6-6A5CD3F0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07950"/>
            <a:ext cx="10515600" cy="1325563"/>
          </a:xfrm>
        </p:spPr>
        <p:txBody>
          <a:bodyPr/>
          <a:lstStyle/>
          <a:p>
            <a:r>
              <a:rPr lang="en-US" dirty="0"/>
              <a:t>Register (</a:t>
            </a:r>
            <a:r>
              <a:rPr lang="en-US" dirty="0">
                <a:hlinkClick r:id="rId3"/>
              </a:rPr>
              <a:t>online reference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18911-2AC2-4890-807D-31E3203C5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56" y="1282610"/>
            <a:ext cx="11672887" cy="4924425"/>
          </a:xfrm>
        </p:spPr>
        <p:txBody>
          <a:bodyPr>
            <a:normAutofit lnSpcReduction="10000"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Flip-flop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a 1 bit memory cell which can be used for 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storing the digital data.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group of flip-flop is known as a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Register</a:t>
            </a:r>
          </a:p>
          <a:p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binary data in a register can be moved within the register from one flip-flop to another. The registers that allow such data transfers are called as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shift registers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AE46E234-C7AE-44C2-8944-8B725AFE0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749" y="2013954"/>
            <a:ext cx="3670301" cy="252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21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D3C2-116D-433D-AD56-2601E17B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’</a:t>
            </a:r>
          </a:p>
        </p:txBody>
      </p:sp>
      <p:pic>
        <p:nvPicPr>
          <p:cNvPr id="5" name="Content Placeholder 4" descr="Diagram, text&#10;&#10;Description automatically generated">
            <a:extLst>
              <a:ext uri="{FF2B5EF4-FFF2-40B4-BE49-F238E27FC236}">
                <a16:creationId xmlns:a16="http://schemas.microsoft.com/office/drawing/2014/main" id="{5872D7C3-C528-4D49-BB71-B8498ACF3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0988" y="1858169"/>
            <a:ext cx="6466874" cy="41775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4C54E-3D44-4480-B330-D1428763316E}"/>
              </a:ext>
            </a:extLst>
          </p:cNvPr>
          <p:cNvSpPr txBox="1"/>
          <p:nvPr/>
        </p:nvSpPr>
        <p:spPr>
          <a:xfrm>
            <a:off x="6747862" y="2357438"/>
            <a:ext cx="5163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register</a:t>
            </a:r>
            <a:r>
              <a:rPr lang="en-US" dirty="0"/>
              <a:t>: </a:t>
            </a:r>
          </a:p>
          <a:p>
            <a:r>
              <a:rPr lang="en-US" dirty="0"/>
              <a:t>	- Bypass register ( when </a:t>
            </a:r>
            <a:r>
              <a:rPr lang="en-US" b="1" dirty="0" err="1"/>
              <a:t>ShiftDR</a:t>
            </a:r>
            <a:r>
              <a:rPr lang="en-US" b="1" dirty="0"/>
              <a:t>=1, </a:t>
            </a:r>
            <a:r>
              <a:rPr lang="en-US" dirty="0"/>
              <a:t>shift 			data from TDI to TDO</a:t>
            </a:r>
            <a:r>
              <a:rPr lang="en-US" b="1" dirty="0"/>
              <a:t>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- Boundary scan register</a:t>
            </a:r>
          </a:p>
          <a:p>
            <a:endParaRPr lang="en-US" dirty="0"/>
          </a:p>
          <a:p>
            <a:r>
              <a:rPr lang="en-US" b="1" dirty="0"/>
              <a:t>Instruction Register</a:t>
            </a:r>
          </a:p>
          <a:p>
            <a:endParaRPr lang="en-US" b="1" dirty="0"/>
          </a:p>
          <a:p>
            <a:r>
              <a:rPr lang="en-US" b="1" dirty="0"/>
              <a:t>Boundary scan register</a:t>
            </a:r>
          </a:p>
          <a:p>
            <a:endParaRPr lang="en-US" dirty="0"/>
          </a:p>
          <a:p>
            <a:r>
              <a:rPr lang="en-US" dirty="0"/>
              <a:t>	- </a:t>
            </a:r>
          </a:p>
        </p:txBody>
      </p:sp>
    </p:spTree>
    <p:extLst>
      <p:ext uri="{BB962C8B-B14F-4D97-AF65-F5344CB8AC3E}">
        <p14:creationId xmlns:p14="http://schemas.microsoft.com/office/powerpoint/2010/main" val="3391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E035-035A-4A1A-912D-76254B2C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scan register</a:t>
            </a:r>
          </a:p>
        </p:txBody>
      </p:sp>
      <p:pic>
        <p:nvPicPr>
          <p:cNvPr id="7" name="Content Placeholder 6" descr="Diagram, schematic&#10;&#10;Description automatically generated">
            <a:extLst>
              <a:ext uri="{FF2B5EF4-FFF2-40B4-BE49-F238E27FC236}">
                <a16:creationId xmlns:a16="http://schemas.microsoft.com/office/drawing/2014/main" id="{AE254040-2DC5-4C8B-8DD5-FF1022898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725" y="1690688"/>
            <a:ext cx="6219825" cy="486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13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F3D86844-D989-41CE-BE77-D4E28C537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0290" y="1253331"/>
            <a:ext cx="6316719" cy="4351338"/>
          </a:xfrm>
        </p:spPr>
      </p:pic>
    </p:spTree>
    <p:extLst>
      <p:ext uri="{BB962C8B-B14F-4D97-AF65-F5344CB8AC3E}">
        <p14:creationId xmlns:p14="http://schemas.microsoft.com/office/powerpoint/2010/main" val="2102311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3DEE-7BD5-4767-9446-F792D1EB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4" y="18255"/>
            <a:ext cx="10396536" cy="792957"/>
          </a:xfrm>
        </p:spPr>
        <p:txBody>
          <a:bodyPr/>
          <a:lstStyle/>
          <a:p>
            <a:r>
              <a:rPr lang="en-US" dirty="0"/>
              <a:t>Instruction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0235-4500-46C9-AEC4-F31F52D4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1212"/>
            <a:ext cx="10515600" cy="4351338"/>
          </a:xfrm>
        </p:spPr>
        <p:txBody>
          <a:bodyPr/>
          <a:lstStyle/>
          <a:p>
            <a:r>
              <a:rPr lang="en-US" dirty="0"/>
              <a:t>Help to shift in the instruction (EYTEST,BYPASS) via TDI</a:t>
            </a:r>
          </a:p>
          <a:p>
            <a:r>
              <a:rPr lang="en-US" dirty="0"/>
              <a:t>In “shift IR” state, shift in instruction</a:t>
            </a:r>
          </a:p>
          <a:p>
            <a:r>
              <a:rPr lang="en-US" dirty="0"/>
              <a:t>These instruction will be translated by instruction decoder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644B3258-0814-44DD-B264-AFED8DA9D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224" y="2506662"/>
            <a:ext cx="6751799" cy="43513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B19078-2980-4BE1-974C-82EBFB8D79F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880726" y="4682331"/>
            <a:ext cx="1363498" cy="11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73FD62-BCF1-467B-AE10-B7C7530713C8}"/>
              </a:ext>
            </a:extLst>
          </p:cNvPr>
          <p:cNvSpPr txBox="1"/>
          <p:nvPr/>
        </p:nvSpPr>
        <p:spPr>
          <a:xfrm>
            <a:off x="176215" y="4329113"/>
            <a:ext cx="4406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instruction via TDI(need to tell what kind of test I want to do first)</a:t>
            </a:r>
          </a:p>
          <a:p>
            <a:pPr marL="342900" indent="-342900">
              <a:buAutoNum type="arabicParenR"/>
            </a:pPr>
            <a:r>
              <a:rPr lang="en-US" dirty="0"/>
              <a:t>EXTEST:000….</a:t>
            </a:r>
          </a:p>
          <a:p>
            <a:pPr marL="342900" indent="-342900">
              <a:buAutoNum type="arabicParenR"/>
            </a:pPr>
            <a:r>
              <a:rPr lang="en-US" dirty="0"/>
              <a:t>BYPASS:111….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01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71D3-67AA-4EDE-BA58-40264F44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EXTEST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CEEB61-B00A-492B-B6B0-8240F796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6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9A86-978C-4BB9-86C2-81C181EC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’..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989911-1E33-4FDB-A746-69DF5735A3FC}"/>
              </a:ext>
            </a:extLst>
          </p:cNvPr>
          <p:cNvCxnSpPr>
            <a:cxnSpLocks/>
          </p:cNvCxnSpPr>
          <p:nvPr/>
        </p:nvCxnSpPr>
        <p:spPr>
          <a:xfrm>
            <a:off x="6096000" y="4019547"/>
            <a:ext cx="9906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Content Placeholder 18" descr="Diagram, schematic&#10;&#10;Description automatically generated">
            <a:extLst>
              <a:ext uri="{FF2B5EF4-FFF2-40B4-BE49-F238E27FC236}">
                <a16:creationId xmlns:a16="http://schemas.microsoft.com/office/drawing/2014/main" id="{FFA123B7-5E3F-4690-9CF3-80E62FDFF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875" y="1962151"/>
            <a:ext cx="6091365" cy="3967159"/>
          </a:xfr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7C7DA779-E68B-4995-99BE-F5F0B47D6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440" y="2252660"/>
            <a:ext cx="334327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0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CAE7-CDC4-410C-80E1-49B69469D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Con’t</a:t>
            </a:r>
            <a:r>
              <a:rPr lang="en-US" dirty="0"/>
              <a:t>..</a:t>
            </a:r>
          </a:p>
        </p:txBody>
      </p:sp>
      <p:pic>
        <p:nvPicPr>
          <p:cNvPr id="9" name="Content Placeholder 8" descr="Diagram, schematic&#10;&#10;Description automatically generated">
            <a:extLst>
              <a:ext uri="{FF2B5EF4-FFF2-40B4-BE49-F238E27FC236}">
                <a16:creationId xmlns:a16="http://schemas.microsoft.com/office/drawing/2014/main" id="{5410CA16-FC69-4169-8F8E-D46BDF54A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23006" y="1707501"/>
            <a:ext cx="5568994" cy="3719513"/>
          </a:xfrm>
        </p:spPr>
      </p:pic>
      <p:pic>
        <p:nvPicPr>
          <p:cNvPr id="11" name="Picture 10" descr="Diagram, schematic&#10;&#10;Description automatically generated">
            <a:extLst>
              <a:ext uri="{FF2B5EF4-FFF2-40B4-BE49-F238E27FC236}">
                <a16:creationId xmlns:a16="http://schemas.microsoft.com/office/drawing/2014/main" id="{1BC75292-69E6-4F9A-83E2-239A92387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" y="1622665"/>
            <a:ext cx="5603325" cy="361267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653574-8D92-4C37-9AD8-5C514F4B2B5A}"/>
              </a:ext>
            </a:extLst>
          </p:cNvPr>
          <p:cNvCxnSpPr>
            <a:cxnSpLocks/>
          </p:cNvCxnSpPr>
          <p:nvPr/>
        </p:nvCxnSpPr>
        <p:spPr>
          <a:xfrm>
            <a:off x="5639736" y="3563744"/>
            <a:ext cx="91252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295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B556-9676-4B0F-B0CC-28B62F50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32368"/>
            <a:ext cx="10515600" cy="1325563"/>
          </a:xfrm>
        </p:spPr>
        <p:txBody>
          <a:bodyPr/>
          <a:lstStyle/>
          <a:p>
            <a:r>
              <a:rPr lang="en-US" dirty="0"/>
              <a:t>Sample/preload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6977E-F6CF-4F2D-B404-B4F50FB76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646" y="1148730"/>
            <a:ext cx="10925299" cy="228026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SAMPLE/PRELOAD instruction is used to take a snapshot of the device as it is in normal functional operation</a:t>
            </a:r>
          </a:p>
          <a:p>
            <a:r>
              <a:rPr lang="en-US" dirty="0"/>
              <a:t>This instruction does not interfere with the normal operation of the device. The SAMPLE part of this instruction occurs during Capture-DR. The DRs are loaded with the state of the pins on the rising edge of TCK while in Capture-DR. The DR can then be shifted out TDO for examination. The PRELOAD part of this instruction is simply loading the DRs during Shift-DR. It is typically used before the EXTEST instruction to define the initial state of the pins.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3DF2F58-2455-4932-B79E-0DFDCACE9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42" y="3428999"/>
            <a:ext cx="2886507" cy="331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7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563</Words>
  <Application>Microsoft Office PowerPoint</Application>
  <PresentationFormat>Widescreen</PresentationFormat>
  <Paragraphs>86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Lato</vt:lpstr>
      <vt:lpstr>Office Theme</vt:lpstr>
      <vt:lpstr>Jtag </vt:lpstr>
      <vt:lpstr>What is Jtag</vt:lpstr>
      <vt:lpstr>Cont’</vt:lpstr>
      <vt:lpstr>Chip level testing</vt:lpstr>
      <vt:lpstr>Chip to chip interconnect testing (online reference)</vt:lpstr>
      <vt:lpstr>Board level testing</vt:lpstr>
      <vt:lpstr>Jtag Architecture </vt:lpstr>
      <vt:lpstr>Register (online reference)</vt:lpstr>
      <vt:lpstr>Cont’</vt:lpstr>
      <vt:lpstr>Boundary scan register</vt:lpstr>
      <vt:lpstr>PowerPoint Presentation</vt:lpstr>
      <vt:lpstr>Instruction register</vt:lpstr>
      <vt:lpstr>EXTEST </vt:lpstr>
      <vt:lpstr>Cont’..</vt:lpstr>
      <vt:lpstr>Con’t..</vt:lpstr>
      <vt:lpstr>Sample/preload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Jtag </dc:title>
  <dc:creator>Liu, Xu</dc:creator>
  <cp:lastModifiedBy>Liu, Xu</cp:lastModifiedBy>
  <cp:revision>90</cp:revision>
  <dcterms:created xsi:type="dcterms:W3CDTF">2021-08-28T02:25:08Z</dcterms:created>
  <dcterms:modified xsi:type="dcterms:W3CDTF">2021-08-29T04:23:08Z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2021-08-29T04:23:08Z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8a813411-7b1c-4b0e-ac4c-9e4b5ac495d9</vt:lpwstr>
  </property>
  <property fmtid="{D5CDD505-2E9C-101B-9397-08002B2CF9AE}" pid="8" name="MSIP_Label_88914ebd-7e6c-4e12-a031-a9906be2db14_ContentBits">
    <vt:lpwstr>1</vt:lpwstr>
  </property>
</Properties>
</file>
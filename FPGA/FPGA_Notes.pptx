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1487F-969D-4BE6-AD05-05658FEFC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CF9777-2481-45AC-AFA5-F0BB7F3E1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73397-2FDF-41CF-A4B5-15E710A75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6E79-C757-4059-9AD4-12F8A577252C}" type="datetimeFigureOut">
              <a:rPr lang="en-US" smtClean="0"/>
              <a:t>12/11/2021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B99FD-8206-4E12-AF2B-0F785EECB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6AEDE-CB9E-45E3-BB8B-AFE815D60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7BA3-E371-44C7-9ECA-6CC5B9649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15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FBA67-86CD-43A8-8593-780C0A14F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49584-0E31-4AB0-A43B-F1D0F2010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9917F-850D-4174-A080-E5EB58B7F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6E79-C757-4059-9AD4-12F8A577252C}" type="datetimeFigureOut">
              <a:rPr lang="en-US" smtClean="0"/>
              <a:t>12/11/2021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DD62B-D215-46AE-B235-F467702E0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04676-ADD9-4E65-8ABA-83F356B61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7BA3-E371-44C7-9ECA-6CC5B9649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621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C18D0-01D9-4E66-9237-C3806D1B5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0E383-18C3-4E19-925F-86941B0FE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01907-9453-42D7-AE4E-8554206AA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6E79-C757-4059-9AD4-12F8A577252C}" type="datetimeFigureOut">
              <a:rPr lang="en-US" smtClean="0"/>
              <a:t>12/11/2021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BDD81-FDE3-4E82-8B2D-203296801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9A31C-D014-43C1-A349-B9A27393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7BA3-E371-44C7-9ECA-6CC5B9649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29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A6BB6-4CE4-408A-BFB1-508F4126C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42597-0957-4167-91A8-E2EE30A13B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A7AE3-5D2E-46C5-8667-242C4B012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D8424-9101-410E-861C-34B8ABABB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6E79-C757-4059-9AD4-12F8A577252C}" type="datetimeFigureOut">
              <a:rPr lang="en-US" smtClean="0"/>
              <a:t>12/11/2021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70465-0DAD-4EED-ABC7-659D84F31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96A34A-1AB0-4F9A-81F4-965F0806C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7BA3-E371-44C7-9ECA-6CC5B9649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39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725C9-9F66-4495-8CE3-B9F156295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8CB62-5086-47CF-8A39-11FEB7122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86BEE7-218F-40F0-BF78-F1D6B7021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D61C55-864F-438C-A848-B344B5C88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B8FAF4-EACC-4040-92E0-C443CBB890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4A7EEE-BD96-4E65-9869-1B7E9D103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6E79-C757-4059-9AD4-12F8A577252C}" type="datetimeFigureOut">
              <a:rPr lang="en-US" smtClean="0"/>
              <a:t>12/11/2021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2A4574-130E-498D-8F14-A85A398CA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F1298A-FE0E-4665-B8B6-C9E0ABB0E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7BA3-E371-44C7-9ECA-6CC5B9649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268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B5DA7-C953-4EF8-90FE-5F1872311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C90441-E518-4B94-837D-2FF9B289E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6E79-C757-4059-9AD4-12F8A577252C}" type="datetimeFigureOut">
              <a:rPr lang="en-US" smtClean="0"/>
              <a:t>12/11/2021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5835C7-B800-45D2-BA61-D30844CF0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E05F4D-6B86-4AB5-ACE2-272728FA6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7BA3-E371-44C7-9ECA-6CC5B9649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35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74E4CC-37D9-4DC1-B451-B4B1F0C02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6E79-C757-4059-9AD4-12F8A577252C}" type="datetimeFigureOut">
              <a:rPr lang="en-US" smtClean="0"/>
              <a:t>12/11/2021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2AD17A-A59B-495A-8E0E-CDD2E9C88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499CC-75EF-437F-913A-717D68A5D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7BA3-E371-44C7-9ECA-6CC5B9649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4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F4384-CC25-4C3F-9450-E48D7DCEF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1E8D5-D82F-49AB-8CEB-6D7FEE226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1AEFB-19D0-415E-9220-C0DA387CF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4A1D1-56CF-473D-A545-202DDDF61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6E79-C757-4059-9AD4-12F8A577252C}" type="datetimeFigureOut">
              <a:rPr lang="en-US" smtClean="0"/>
              <a:t>12/11/2021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51E950-9E6F-4BA6-BB4F-10CD6DD50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6C33D-BFB9-49BB-905D-54106C66A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7BA3-E371-44C7-9ECA-6CC5B9649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223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729FE-6ACA-4251-B1F6-A52D1B545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4A11B5-9AAE-42BF-8B24-AE6BBFE189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B12C3-AD75-4399-A4FE-8D8DADC7F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063199-0203-45F5-972C-EFAD927CA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6E79-C757-4059-9AD4-12F8A577252C}" type="datetimeFigureOut">
              <a:rPr lang="en-US" smtClean="0"/>
              <a:t>12/11/2021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CC6F9-CB56-4903-8F62-D27F634CF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BB7ED-F6EE-4F1C-8A13-AB584E64F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7BA3-E371-44C7-9ECA-6CC5B9649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463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41CF6-7E30-4657-803C-7633C4CB6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BBB414-6B79-4989-9B3E-DCA54201F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647AC-FDBF-40BA-87EF-BB9240889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6E79-C757-4059-9AD4-12F8A577252C}" type="datetimeFigureOut">
              <a:rPr lang="en-US" smtClean="0"/>
              <a:t>12/11/2021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99175-7C79-4056-818E-0D3DCC255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C8CAE-7FBF-4CD3-90B7-839E724E1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7BA3-E371-44C7-9ECA-6CC5B9649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517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B193C2-22A5-4F41-8A43-1965A17DAF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3D231-08F4-4859-9880-23C58BBF8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BAB4C-12B1-4177-81C6-9E52AC2C7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6E79-C757-4059-9AD4-12F8A577252C}" type="datetimeFigureOut">
              <a:rPr lang="en-US" smtClean="0"/>
              <a:t>12/11/2021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E2A4C-AFFC-43EE-9D3F-5FE1B9E81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654BE-F949-433E-A7F5-BB23C8C2B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7BA3-E371-44C7-9ECA-6CC5B9649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59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18C653-79DC-48E9-8139-519762119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759F7-B902-4487-8448-B18DCEC0F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CC679-1B68-4F86-ACA0-5B29BC38C4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D46E79-C757-4059-9AD4-12F8A577252C}" type="datetimeFigureOut">
              <a:rPr lang="en-US" smtClean="0"/>
              <a:t>12/11/2021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BA5F3-F09F-4C60-B02C-87B5C58E11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C72D9-259D-46B1-9DAB-600D8CC545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77BA3-E371-44C7-9ECA-6CC5B9649CD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-1538819703,&quot;Placement&quot;:&quot;Header&quot;,&quot;Top&quot;:0.0,&quot;Left&quot;:0.0,&quot;SlideWidth&quot;:960,&quot;SlideHeight&quot;:540}">
            <a:extLst>
              <a:ext uri="{FF2B5EF4-FFF2-40B4-BE49-F238E27FC236}">
                <a16:creationId xmlns:a16="http://schemas.microsoft.com/office/drawing/2014/main" id="{EC41F795-8B58-43C9-8233-32242181A9A6}"/>
              </a:ext>
            </a:extLst>
          </p:cNvPr>
          <p:cNvSpPr txBox="1"/>
          <p:nvPr userDrawn="1"/>
        </p:nvSpPr>
        <p:spPr>
          <a:xfrm>
            <a:off x="0" y="0"/>
            <a:ext cx="1634581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FF"/>
                </a:solidFill>
                <a:latin typeface="Arial" panose="020B0604020202020204" pitchFamily="34" charset="0"/>
              </a:rPr>
              <a:t>[AMD Official Use Only]</a:t>
            </a:r>
          </a:p>
        </p:txBody>
      </p:sp>
    </p:spTree>
    <p:extLst>
      <p:ext uri="{BB962C8B-B14F-4D97-AF65-F5344CB8AC3E}">
        <p14:creationId xmlns:p14="http://schemas.microsoft.com/office/powerpoint/2010/main" val="3968993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259C8-9EE4-4569-B9BC-FAC0E9E487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FPGA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D7F9A7-2653-4D9B-A368-47E1F25BBC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97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3B0FD-713B-45CD-9BFD-031FB08A0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85B11-6792-4AAA-B6D8-99FB22016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field-programmable gate array (FPGA) is an integrated circuit designed to be configured by a customer after </a:t>
            </a:r>
            <a:r>
              <a:rPr lang="en-US" dirty="0">
                <a:solidFill>
                  <a:srgbClr val="FF0000"/>
                </a:solidFill>
              </a:rPr>
              <a:t>manufacturing (still can change after manufactured!)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2910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1C84E-75D9-449C-A93C-2A0B2EC81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37305-44C2-44CA-B4F4-DD84B9554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integrated circuit that integrates all components of a computer into a single chip</a:t>
            </a:r>
          </a:p>
        </p:txBody>
      </p:sp>
    </p:spTree>
    <p:extLst>
      <p:ext uri="{BB962C8B-B14F-4D97-AF65-F5344CB8AC3E}">
        <p14:creationId xmlns:p14="http://schemas.microsoft.com/office/powerpoint/2010/main" val="1042596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E3298-F966-4CF9-83EC-FBE3B85E7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34736"/>
          </a:xfrm>
        </p:spPr>
        <p:txBody>
          <a:bodyPr/>
          <a:lstStyle/>
          <a:p>
            <a:r>
              <a:rPr lang="en-US" dirty="0"/>
              <a:t>Look up tables (LUTS)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12C00-C789-4E6A-AA33-D01BCA890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852" y="823089"/>
            <a:ext cx="10515600" cy="4351338"/>
          </a:xfrm>
        </p:spPr>
        <p:txBody>
          <a:bodyPr/>
          <a:lstStyle/>
          <a:p>
            <a:r>
              <a:rPr lang="en-US" dirty="0"/>
              <a:t>FPGAs use Look up Tables as the base logic element</a:t>
            </a:r>
          </a:p>
          <a:p>
            <a:r>
              <a:rPr lang="en-US" dirty="0"/>
              <a:t>LUTS can be used to implement any 4-input logic (4 input needs 16 memory locations)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9FB193-F7AD-44B5-B35A-943BF5ADA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255" y="1957825"/>
            <a:ext cx="3322724" cy="21217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0C0A93-C605-443C-9EEA-4D1C1D2DB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021" y="3124316"/>
            <a:ext cx="5820979" cy="327743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E133845-1FA0-4593-841A-C19423D21366}"/>
              </a:ext>
            </a:extLst>
          </p:cNvPr>
          <p:cNvCxnSpPr/>
          <p:nvPr/>
        </p:nvCxnSpPr>
        <p:spPr>
          <a:xfrm flipH="1">
            <a:off x="2049137" y="2622014"/>
            <a:ext cx="6599104" cy="1233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2E2DCA4-D3D8-44FC-84A0-57655B1365E0}"/>
              </a:ext>
            </a:extLst>
          </p:cNvPr>
          <p:cNvCxnSpPr>
            <a:cxnSpLocks/>
          </p:cNvCxnSpPr>
          <p:nvPr/>
        </p:nvCxnSpPr>
        <p:spPr>
          <a:xfrm flipV="1">
            <a:off x="6096000" y="5760871"/>
            <a:ext cx="1714959" cy="265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8991436-D76B-4CFA-83D2-A95FF41FC1F3}"/>
              </a:ext>
            </a:extLst>
          </p:cNvPr>
          <p:cNvSpPr txBox="1"/>
          <p:nvPr/>
        </p:nvSpPr>
        <p:spPr>
          <a:xfrm>
            <a:off x="7965196" y="5293384"/>
            <a:ext cx="40762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FPGA logic cell:</a:t>
            </a:r>
          </a:p>
          <a:p>
            <a:pPr marL="285750" indent="-285750">
              <a:buFontTx/>
              <a:buChar char="-"/>
            </a:pPr>
            <a:r>
              <a:rPr lang="en-US" dirty="0"/>
              <a:t>4 input LUT (can be constructed with double 3 –input LUT</a:t>
            </a:r>
          </a:p>
          <a:p>
            <a:pPr marL="285750" indent="-285750">
              <a:buFontTx/>
              <a:buChar char="-"/>
            </a:pPr>
            <a:r>
              <a:rPr lang="en-US" dirty="0"/>
              <a:t>Full adder</a:t>
            </a:r>
          </a:p>
          <a:p>
            <a:pPr marL="285750" indent="-285750">
              <a:buFontTx/>
              <a:buChar char="-"/>
            </a:pPr>
            <a:r>
              <a:rPr lang="en-US" dirty="0"/>
              <a:t>D flip-flop</a:t>
            </a:r>
          </a:p>
        </p:txBody>
      </p:sp>
    </p:spTree>
    <p:extLst>
      <p:ext uri="{BB962C8B-B14F-4D97-AF65-F5344CB8AC3E}">
        <p14:creationId xmlns:p14="http://schemas.microsoft.com/office/powerpoint/2010/main" val="3210233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FFF42-6BB2-4153-97E7-BD72B330F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Half/full adder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957E5-DA7B-40A7-8894-3F0A175CD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heart of computer is CPU </a:t>
            </a:r>
          </a:p>
          <a:p>
            <a:r>
              <a:rPr lang="en-US" dirty="0"/>
              <a:t>The heart of CPU is Arithmetic Logic unit (ALU)</a:t>
            </a:r>
          </a:p>
          <a:p>
            <a:r>
              <a:rPr lang="en-US" dirty="0"/>
              <a:t>The heart of ALU is adder circuit</a:t>
            </a:r>
          </a:p>
          <a:p>
            <a:r>
              <a:rPr lang="en-US" dirty="0"/>
              <a:t>Adder : half adder, full adder and ripple carry adder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03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3C0AC-D2FB-4ADE-A3F8-2C75B2311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5376"/>
          </a:xfrm>
        </p:spPr>
        <p:txBody>
          <a:bodyPr>
            <a:normAutofit fontScale="90000"/>
          </a:bodyPr>
          <a:lstStyle/>
          <a:p>
            <a:r>
              <a:rPr lang="en-US" dirty="0"/>
              <a:t>Half adder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68387-00C5-40F7-9397-2E6DCCD8E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080" y="1134737"/>
            <a:ext cx="10648720" cy="5042226"/>
          </a:xfrm>
        </p:spPr>
        <p:txBody>
          <a:bodyPr/>
          <a:lstStyle/>
          <a:p>
            <a:r>
              <a:rPr lang="en-US" dirty="0"/>
              <a:t>Is useful when we want to add 1 bit of number 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30" name="Picture 6" descr="Half Adder - Javatpoint">
            <a:extLst>
              <a:ext uri="{FF2B5EF4-FFF2-40B4-BE49-F238E27FC236}">
                <a16:creationId xmlns:a16="http://schemas.microsoft.com/office/drawing/2014/main" id="{7F6CD585-7745-42B5-AA40-E58FBC28F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3948" y="874808"/>
            <a:ext cx="26955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CCECDB-2EBC-4D3B-9C21-90807AE51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056" y="2656384"/>
            <a:ext cx="7391400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886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13907-6817-4634-8EEF-E5355736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65" y="111737"/>
            <a:ext cx="10527535" cy="901815"/>
          </a:xfrm>
        </p:spPr>
        <p:txBody>
          <a:bodyPr/>
          <a:lstStyle/>
          <a:p>
            <a:r>
              <a:rPr lang="en-US" dirty="0"/>
              <a:t>Full adder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1374C-0E5D-4A7D-BF6A-080ACA7BB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709" y="881350"/>
            <a:ext cx="10891092" cy="5295614"/>
          </a:xfrm>
        </p:spPr>
        <p:txBody>
          <a:bodyPr/>
          <a:lstStyle/>
          <a:p>
            <a:r>
              <a:rPr lang="en-US" dirty="0"/>
              <a:t>The drawback of half adder is the </a:t>
            </a:r>
            <a:r>
              <a:rPr lang="en-US" dirty="0">
                <a:solidFill>
                  <a:srgbClr val="FF0000"/>
                </a:solidFill>
              </a:rPr>
              <a:t>carry from previous half adder can’t propagate </a:t>
            </a:r>
            <a:r>
              <a:rPr lang="en-US" dirty="0"/>
              <a:t>to the next half adder (half adder only has 2 inputs A,B and can't’ include a carry). It can be solved by full adder which has 3 inputs (A,B and carry from previous adder)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52" name="Picture 4" descr="Full Adder truth table. | Download Table">
            <a:extLst>
              <a:ext uri="{FF2B5EF4-FFF2-40B4-BE49-F238E27FC236}">
                <a16:creationId xmlns:a16="http://schemas.microsoft.com/office/drawing/2014/main" id="{219AD20A-0275-4ED9-AD3B-6240FA540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3191" y="2266950"/>
            <a:ext cx="308610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Full Adder in Digital Logic - GeeksforGeeks">
            <a:extLst>
              <a:ext uri="{FF2B5EF4-FFF2-40B4-BE49-F238E27FC236}">
                <a16:creationId xmlns:a16="http://schemas.microsoft.com/office/drawing/2014/main" id="{48BFD4D0-A056-446D-BDB0-9AAF7496F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367" y="3429000"/>
            <a:ext cx="6800850" cy="325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8571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683D-1FB3-4D99-B99A-80E441FEC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538" y="144788"/>
            <a:ext cx="10515600" cy="846730"/>
          </a:xfrm>
        </p:spPr>
        <p:txBody>
          <a:bodyPr>
            <a:normAutofit/>
          </a:bodyPr>
          <a:lstStyle/>
          <a:p>
            <a:r>
              <a:rPr lang="en-US" dirty="0"/>
              <a:t>Ripple carry adder or parallel adder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E22BE-9604-4A89-A67F-BA8959FBC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877" y="1123720"/>
            <a:ext cx="10780923" cy="5053243"/>
          </a:xfrm>
        </p:spPr>
        <p:txBody>
          <a:bodyPr/>
          <a:lstStyle/>
          <a:p>
            <a:r>
              <a:rPr lang="en-US" dirty="0"/>
              <a:t>Full adders' cascade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 has propagation </a:t>
            </a:r>
          </a:p>
          <a:p>
            <a:pPr marL="0" indent="0">
              <a:buNone/>
            </a:pPr>
            <a:r>
              <a:rPr lang="en-US" dirty="0"/>
              <a:t>  delay problem which can be addressed by carry look ahead adder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Carry look ahead adder calculate 1 or more carry bits before the sum which reduces the wait time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3074" name="Picture 2" descr="Ripple carry adder, 4 bit ripple carry adder circuit , propagation delay">
            <a:extLst>
              <a:ext uri="{FF2B5EF4-FFF2-40B4-BE49-F238E27FC236}">
                <a16:creationId xmlns:a16="http://schemas.microsoft.com/office/drawing/2014/main" id="{83B6FDFB-1CBF-49DD-AEEB-8B5ADBC5D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3450" y="991518"/>
            <a:ext cx="6610350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5542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1F2C3-F0BF-4B1C-B120-2CA7289D3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1646"/>
          </a:xfrm>
        </p:spPr>
        <p:txBody>
          <a:bodyPr/>
          <a:lstStyle/>
          <a:p>
            <a:r>
              <a:rPr lang="en-US" dirty="0"/>
              <a:t>Design adders in FPGA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468D3-4A6C-4CD3-AFE5-855E22FB8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6772"/>
            <a:ext cx="10515600" cy="502019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314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2786</TotalTime>
  <Words>257</Words>
  <Application>Microsoft Office PowerPoint</Application>
  <PresentationFormat>Widescreen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FPGA</vt:lpstr>
      <vt:lpstr>Definition</vt:lpstr>
      <vt:lpstr>SOC</vt:lpstr>
      <vt:lpstr>Look up tables (LUTS) </vt:lpstr>
      <vt:lpstr>Half/full adder</vt:lpstr>
      <vt:lpstr>Half adder</vt:lpstr>
      <vt:lpstr>Full adder</vt:lpstr>
      <vt:lpstr>Ripple carry adder or parallel adder</vt:lpstr>
      <vt:lpstr>Design adders in FPGA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FPGA</dc:title>
  <dc:creator>Liu, Xu</dc:creator>
  <cp:lastModifiedBy>Liu, Xu</cp:lastModifiedBy>
  <cp:revision>19</cp:revision>
  <dcterms:created xsi:type="dcterms:W3CDTF">2021-12-10T05:55:51Z</dcterms:created>
  <dcterms:modified xsi:type="dcterms:W3CDTF">2021-12-13T00:26:44Z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8914ebd-7e6c-4e12-a031-a9906be2db14_Enabled">
    <vt:lpwstr>true</vt:lpwstr>
  </property>
  <property fmtid="{D5CDD505-2E9C-101B-9397-08002B2CF9AE}" pid="3" name="MSIP_Label_88914ebd-7e6c-4e12-a031-a9906be2db14_SetDate">
    <vt:lpwstr>2021-12-13T00:26:43Z</vt:lpwstr>
  </property>
  <property fmtid="{D5CDD505-2E9C-101B-9397-08002B2CF9AE}" pid="4" name="MSIP_Label_88914ebd-7e6c-4e12-a031-a9906be2db14_Method">
    <vt:lpwstr>Standard</vt:lpwstr>
  </property>
  <property fmtid="{D5CDD505-2E9C-101B-9397-08002B2CF9AE}" pid="5" name="MSIP_Label_88914ebd-7e6c-4e12-a031-a9906be2db14_Name">
    <vt:lpwstr>AMD Official Use Only-AIP 2.0</vt:lpwstr>
  </property>
  <property fmtid="{D5CDD505-2E9C-101B-9397-08002B2CF9AE}" pid="6" name="MSIP_Label_88914ebd-7e6c-4e12-a031-a9906be2db14_SiteId">
    <vt:lpwstr>3dd8961f-e488-4e60-8e11-a82d994e183d</vt:lpwstr>
  </property>
  <property fmtid="{D5CDD505-2E9C-101B-9397-08002B2CF9AE}" pid="7" name="MSIP_Label_88914ebd-7e6c-4e12-a031-a9906be2db14_ActionId">
    <vt:lpwstr>857c7567-d996-46de-81c2-b682f257a0f7</vt:lpwstr>
  </property>
  <property fmtid="{D5CDD505-2E9C-101B-9397-08002B2CF9AE}" pid="8" name="MSIP_Label_88914ebd-7e6c-4e12-a031-a9906be2db14_ContentBits">
    <vt:lpwstr>1</vt:lpwstr>
  </property>
</Properties>
</file>
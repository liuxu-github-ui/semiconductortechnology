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973" autoAdjust="0"/>
  </p:normalViewPr>
  <p:slideViewPr>
    <p:cSldViewPr snapToGrid="0">
      <p:cViewPr varScale="1">
        <p:scale>
          <a:sx n="90" d="100"/>
          <a:sy n="90" d="100"/>
        </p:scale>
        <p:origin x="6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B601-B6DA-4CE9-9510-C67A66D21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B3F70-527E-424F-9B28-B16E6E142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285C9-A10B-4DEE-AA44-5E6DF71E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A6A-60B9-4B43-A418-D19D13126074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4207B-9074-49B5-B2B8-566A7C3B4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32835-65C4-4FA2-ABD7-D6FD2835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9421-4284-4D91-A712-0E08078C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4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77CAA-5E9D-49B4-A472-19DF4683D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58AFD-B4A7-465B-B8A4-667544DB8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EF1C5-3493-4E17-A21A-B5E105D6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A6A-60B9-4B43-A418-D19D13126074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81C12-971D-40FD-874C-4A8BEE70D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8BEB8-4F36-4D15-B3C8-843D0822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9421-4284-4D91-A712-0E08078C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12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E724-69BD-4E79-846A-CFB89DDF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8DBB7-E934-4F3D-9EB7-1851ADAC8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D7FD-1F33-479F-A11B-A21751453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A6A-60B9-4B43-A418-D19D13126074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E963A-ADBF-4342-9F6B-CD7941069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1381-8D81-46B1-BE06-42E04849A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9421-4284-4D91-A712-0E08078C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2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114C-6FF1-4756-8F81-01689B9A2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98580-F5B5-4456-A508-EA8C5E1B6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72E06-0513-487D-A32A-962EFBE78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1D37A-24A7-482C-9349-585D790B9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A6A-60B9-4B43-A418-D19D13126074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CA3BA-F88D-4004-A2AB-B9E100B4D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7FDA8-048A-4575-8812-3984599C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9421-4284-4D91-A712-0E08078C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31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911E-4C05-4262-A001-11B5AA91A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DE36F-DBE9-4F79-AC20-1D52FD54E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4ED43-9F33-4C4E-9A74-D90B305A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3F2AA0-6C99-40DE-9A12-9F067C882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1E2F24-F833-4983-BA5D-ECF3E7A55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60630-1441-4FFE-9B38-C530C23A2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A6A-60B9-4B43-A418-D19D13126074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EC33C0-2B06-4476-96A2-03FED048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FA8E6A-6ECE-4753-97E4-041AB399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9421-4284-4D91-A712-0E08078C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8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D05E-CCFC-4170-A387-D33181864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7AAC2-CE23-4A5E-B1B0-7402AF06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A6A-60B9-4B43-A418-D19D13126074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EA30AB-93C3-4D63-A99E-E33EE1D2F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03E9ED-597B-473F-8512-25274B6C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9421-4284-4D91-A712-0E08078C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3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8BC52-4FB4-4F31-B946-9026B7C89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A6A-60B9-4B43-A418-D19D13126074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5787A-A8F9-42AF-BE18-ABF0E79B3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DFA53-41C2-4DD3-98A7-31E5933A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9421-4284-4D91-A712-0E08078C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86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E22B-5848-484A-B4A7-CC76FDB41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BD533-674C-4A6F-8FF8-FF9AC56FE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15C35-E3DB-4B36-B293-BE1C39C8A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76A98-9408-4A48-910D-59A9721B3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A6A-60B9-4B43-A418-D19D13126074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3728E-45E3-4386-8F6F-BA6F63A6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332C1-BF27-47A2-A531-EBA254BD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9421-4284-4D91-A712-0E08078C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6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256CE-A51A-41DD-AB16-1F54DE3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E6132-6435-44D0-AED5-BD564DBB7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791A6-DD67-4EB7-89A4-B063E8A75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622D3-93DD-4AEC-9FAA-DA29C50D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A6A-60B9-4B43-A418-D19D13126074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E7C33-5046-4EB7-A1B6-8F719896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0D244-C2B3-44A3-97DD-9988FEC80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9421-4284-4D91-A712-0E08078C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48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A788-F843-4738-B0B5-06DF8A884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D41A9-A7BF-4F6B-94F2-ED826A744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BD554-0116-44B7-A67C-E6B3CDB8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A6A-60B9-4B43-A418-D19D13126074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059D6-BEEE-4BD1-A3DE-3464A6C3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29DF7-5AAE-4C27-97B3-85375D7EA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9421-4284-4D91-A712-0E08078C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1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7CBBC0-4C59-4CF5-8C9A-E18F76A923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6E8FD-307F-4347-8FC7-7CD657F13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7D148-81CD-49CE-A3DA-0FFFF0F9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A6A-60B9-4B43-A418-D19D13126074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3088A-2302-47EA-BBEF-EEC77581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2AC14-7D94-4980-9ED2-483AFDF3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9421-4284-4D91-A712-0E08078C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32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7580C-863D-496B-A68E-F87E93EC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86E39-9411-4D37-AD21-8B81BC17D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F6DF4-CEFC-4AC9-BB2D-B2A5B671A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22A6A-60B9-4B43-A418-D19D13126074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12E1E-181C-4F7C-90CD-080982B936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0B70C-C566-47D5-9B19-283EE011A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A9421-4284-4D91-A712-0E08078CD16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538819703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ABDB8098-1096-4BF6-825E-D65D1F1E47A8}"/>
              </a:ext>
            </a:extLst>
          </p:cNvPr>
          <p:cNvSpPr txBox="1"/>
          <p:nvPr userDrawn="1"/>
        </p:nvSpPr>
        <p:spPr>
          <a:xfrm>
            <a:off x="0" y="0"/>
            <a:ext cx="1634581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FF"/>
                </a:solidFill>
                <a:latin typeface="Arial" panose="020B0604020202020204" pitchFamily="34" charset="0"/>
              </a:rPr>
              <a:t>[AMD Official Use Only]</a:t>
            </a:r>
          </a:p>
        </p:txBody>
      </p:sp>
    </p:spTree>
    <p:extLst>
      <p:ext uri="{BB962C8B-B14F-4D97-AF65-F5344CB8AC3E}">
        <p14:creationId xmlns:p14="http://schemas.microsoft.com/office/powerpoint/2010/main" val="80562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aboard.com/threads/why-is-polysilicon-used-instead-of-metal-for-gates-in-mos.60563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1604-8366-4D39-9DA1-311A076772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79B75-B085-4BE6-A179-5A886188B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66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4355-5E76-4932-B1E1-0599D58C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65" y="-120067"/>
            <a:ext cx="10515600" cy="1325563"/>
          </a:xfrm>
        </p:spPr>
        <p:txBody>
          <a:bodyPr/>
          <a:lstStyle/>
          <a:p>
            <a:r>
              <a:rPr lang="en-US" dirty="0"/>
              <a:t>Overall</a:t>
            </a:r>
          </a:p>
        </p:txBody>
      </p:sp>
      <p:pic>
        <p:nvPicPr>
          <p:cNvPr id="1026" name="Picture 2" descr="Simplified process of fabrication of a CMOS inverter on p-type substrate in semiconductor microfabrication. In step 1, silicon dioxide layers are formed initially through thermal oxidation Note: Gate, source and drain contacts are not normally in the same plane in real devices, and the diagram is not to scale.">
            <a:extLst>
              <a:ext uri="{FF2B5EF4-FFF2-40B4-BE49-F238E27FC236}">
                <a16:creationId xmlns:a16="http://schemas.microsoft.com/office/drawing/2014/main" id="{7362B82E-E350-4EFF-B5A7-89A5EFD989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538" y="475859"/>
            <a:ext cx="1481193" cy="629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D2B25BA-8818-4849-B0ED-03E1EE092207}"/>
              </a:ext>
            </a:extLst>
          </p:cNvPr>
          <p:cNvCxnSpPr/>
          <p:nvPr/>
        </p:nvCxnSpPr>
        <p:spPr>
          <a:xfrm>
            <a:off x="5570376" y="2584580"/>
            <a:ext cx="525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BF96C9D-C4BF-4F8B-AEEB-4393C6EF9D67}"/>
              </a:ext>
            </a:extLst>
          </p:cNvPr>
          <p:cNvSpPr txBox="1"/>
          <p:nvPr/>
        </p:nvSpPr>
        <p:spPr>
          <a:xfrm>
            <a:off x="6280728" y="2399914"/>
            <a:ext cx="125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Grow oxide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4E1714-12B1-41CF-B5AB-BADE2F9F2AC0}"/>
              </a:ext>
            </a:extLst>
          </p:cNvPr>
          <p:cNvCxnSpPr/>
          <p:nvPr/>
        </p:nvCxnSpPr>
        <p:spPr>
          <a:xfrm>
            <a:off x="5570376" y="3115671"/>
            <a:ext cx="525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49696BE-4497-461A-96B4-68346D9397A0}"/>
              </a:ext>
            </a:extLst>
          </p:cNvPr>
          <p:cNvSpPr txBox="1"/>
          <p:nvPr/>
        </p:nvSpPr>
        <p:spPr>
          <a:xfrm>
            <a:off x="6336052" y="2931005"/>
            <a:ext cx="5855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Grow polysilicon (the reason use </a:t>
            </a:r>
            <a:r>
              <a:rPr lang="en-US" dirty="0" err="1"/>
              <a:t>polysiclion</a:t>
            </a:r>
            <a:r>
              <a:rPr lang="en-US" dirty="0"/>
              <a:t> instead of metal: smaller threshold voltage than metal. Modern </a:t>
            </a:r>
            <a:r>
              <a:rPr lang="en-US" dirty="0" err="1"/>
              <a:t>semicon</a:t>
            </a:r>
            <a:r>
              <a:rPr lang="en-US" dirty="0"/>
              <a:t> uses smaller Vth) </a:t>
            </a:r>
            <a:r>
              <a:rPr lang="en-US" dirty="0">
                <a:hlinkClick r:id="rId3"/>
              </a:rPr>
              <a:t>reference 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974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FACE-51D3-458A-96B9-F5C3E6A4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FEOL vs BEOL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DEF35-3588-4DD5-9F42-33E5D9BD4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FEOL: individual transistor</a:t>
            </a:r>
          </a:p>
          <a:p>
            <a:r>
              <a:rPr lang="en-US" dirty="0"/>
              <a:t>BEOL: Metal deposition for interconnection</a:t>
            </a:r>
          </a:p>
        </p:txBody>
      </p:sp>
      <p:pic>
        <p:nvPicPr>
          <p:cNvPr id="2050" name="Picture 2" descr="Breaking The 2nm Barrier">
            <a:extLst>
              <a:ext uri="{FF2B5EF4-FFF2-40B4-BE49-F238E27FC236}">
                <a16:creationId xmlns:a16="http://schemas.microsoft.com/office/drawing/2014/main" id="{1F1165B5-5DDC-4E07-A126-1442C246E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169" y="681037"/>
            <a:ext cx="4009914" cy="5922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chematic cross section of very large scale integrated (VLSI)... | Download  Scientific Diagram">
            <a:extLst>
              <a:ext uri="{FF2B5EF4-FFF2-40B4-BE49-F238E27FC236}">
                <a16:creationId xmlns:a16="http://schemas.microsoft.com/office/drawing/2014/main" id="{08FD370A-83DE-4E97-BF4F-7999C2129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283" y="342900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ransistors. Consider the merged MEMS-transistor | Chegg.com">
            <a:extLst>
              <a:ext uri="{FF2B5EF4-FFF2-40B4-BE49-F238E27FC236}">
                <a16:creationId xmlns:a16="http://schemas.microsoft.com/office/drawing/2014/main" id="{643F44A9-2385-47B4-BE57-BB901745E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555373"/>
            <a:ext cx="4270236" cy="223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576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4A87-5B14-4A4A-BDE1-E938E8B31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ED7AB-AD81-44EE-8CDC-E15810E2E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29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41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Overall</vt:lpstr>
      <vt:lpstr>FEOL vs BEOL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Liu, Xu</dc:creator>
  <cp:lastModifiedBy>Liu, Xu</cp:lastModifiedBy>
  <cp:revision>4</cp:revision>
  <dcterms:created xsi:type="dcterms:W3CDTF">2021-08-31T00:50:33Z</dcterms:created>
  <dcterms:modified xsi:type="dcterms:W3CDTF">2021-09-03T01:02:45Z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8914ebd-7e6c-4e12-a031-a9906be2db14_Enabled">
    <vt:lpwstr>true</vt:lpwstr>
  </property>
  <property fmtid="{D5CDD505-2E9C-101B-9397-08002B2CF9AE}" pid="3" name="MSIP_Label_88914ebd-7e6c-4e12-a031-a9906be2db14_SetDate">
    <vt:lpwstr>2021-09-03T01:02:45Z</vt:lpwstr>
  </property>
  <property fmtid="{D5CDD505-2E9C-101B-9397-08002B2CF9AE}" pid="4" name="MSIP_Label_88914ebd-7e6c-4e12-a031-a9906be2db14_Method">
    <vt:lpwstr>Standard</vt:lpwstr>
  </property>
  <property fmtid="{D5CDD505-2E9C-101B-9397-08002B2CF9AE}" pid="5" name="MSIP_Label_88914ebd-7e6c-4e12-a031-a9906be2db14_Name">
    <vt:lpwstr>AMD Official Use Only-AIP 2.0</vt:lpwstr>
  </property>
  <property fmtid="{D5CDD505-2E9C-101B-9397-08002B2CF9AE}" pid="6" name="MSIP_Label_88914ebd-7e6c-4e12-a031-a9906be2db14_SiteId">
    <vt:lpwstr>3dd8961f-e488-4e60-8e11-a82d994e183d</vt:lpwstr>
  </property>
  <property fmtid="{D5CDD505-2E9C-101B-9397-08002B2CF9AE}" pid="7" name="MSIP_Label_88914ebd-7e6c-4e12-a031-a9906be2db14_ActionId">
    <vt:lpwstr>c5449a9f-684f-418c-bf4c-f2f91679d776</vt:lpwstr>
  </property>
  <property fmtid="{D5CDD505-2E9C-101B-9397-08002B2CF9AE}" pid="8" name="MSIP_Label_88914ebd-7e6c-4e12-a031-a9906be2db14_ContentBits">
    <vt:lpwstr>1</vt:lpwstr>
  </property>
</Properties>
</file>